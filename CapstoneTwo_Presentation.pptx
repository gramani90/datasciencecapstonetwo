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2" r:id="rId9"/>
    <p:sldId id="263" r:id="rId10"/>
    <p:sldId id="273" r:id="rId11"/>
    <p:sldId id="264" r:id="rId12"/>
    <p:sldId id="274" r:id="rId13"/>
    <p:sldId id="265" r:id="rId14"/>
    <p:sldId id="266" r:id="rId15"/>
    <p:sldId id="267" r:id="rId16"/>
    <p:sldId id="268"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53" autoAdjust="0"/>
  </p:normalViewPr>
  <p:slideViewPr>
    <p:cSldViewPr snapToGrid="0" snapToObjects="1">
      <p:cViewPr varScale="1">
        <p:scale>
          <a:sx n="54" d="100"/>
          <a:sy n="54" d="100"/>
        </p:scale>
        <p:origin x="112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Hypertension Class Distribution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5.4271038385826767E-2"/>
          <c:y val="0.10320711717475903"/>
          <c:w val="0.93635396161417328"/>
          <c:h val="0.76748654235442038"/>
        </c:manualLayout>
      </c:layout>
      <c:barChart>
        <c:barDir val="col"/>
        <c:grouping val="clustered"/>
        <c:varyColors val="0"/>
        <c:ser>
          <c:idx val="0"/>
          <c:order val="0"/>
          <c:tx>
            <c:strRef>
              <c:f>Sheet1!$B$1</c:f>
              <c:strCache>
                <c:ptCount val="1"/>
                <c:pt idx="0">
                  <c:v>Hypertension Prevalance (%)</c:v>
                </c:pt>
              </c:strCache>
            </c:strRef>
          </c:tx>
          <c:spPr>
            <a:solidFill>
              <a:schemeClr val="accent1"/>
            </a:solidFill>
            <a:ln>
              <a:noFill/>
            </a:ln>
            <a:effectLst/>
          </c:spPr>
          <c:invertIfNegative val="0"/>
          <c:dLbls>
            <c:dLbl>
              <c:idx val="0"/>
              <c:tx>
                <c:rich>
                  <a:bodyPr/>
                  <a:lstStyle/>
                  <a:p>
                    <a:r>
                      <a:rPr lang="en-US"/>
                      <a:t>61%</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87C-4B0A-9762-6DFC5E999B7A}"/>
                </c:ext>
              </c:extLst>
            </c:dLbl>
            <c:dLbl>
              <c:idx val="1"/>
              <c:tx>
                <c:rich>
                  <a:bodyPr/>
                  <a:lstStyle/>
                  <a:p>
                    <a:r>
                      <a:rPr lang="en-US"/>
                      <a:t>39%</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87C-4B0A-9762-6DFC5E999B7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2"/>
                <c:pt idx="0">
                  <c:v>No Hypertension</c:v>
                </c:pt>
                <c:pt idx="1">
                  <c:v>Hypertension</c:v>
                </c:pt>
              </c:strCache>
            </c:strRef>
          </c:cat>
          <c:val>
            <c:numRef>
              <c:f>Sheet1!$B$2:$B$5</c:f>
              <c:numCache>
                <c:formatCode>General</c:formatCode>
                <c:ptCount val="2"/>
                <c:pt idx="0">
                  <c:v>61</c:v>
                </c:pt>
                <c:pt idx="1">
                  <c:v>39</c:v>
                </c:pt>
              </c:numCache>
            </c:numRef>
          </c:val>
          <c:extLst>
            <c:ext xmlns:c16="http://schemas.microsoft.com/office/drawing/2014/chart" uri="{C3380CC4-5D6E-409C-BE32-E72D297353CC}">
              <c16:uniqueId val="{00000000-D87C-4B0A-9762-6DFC5E999B7A}"/>
            </c:ext>
          </c:extLst>
        </c:ser>
        <c:dLbls>
          <c:dLblPos val="outEnd"/>
          <c:showLegendKey val="0"/>
          <c:showVal val="1"/>
          <c:showCatName val="0"/>
          <c:showSerName val="0"/>
          <c:showPercent val="0"/>
          <c:showBubbleSize val="0"/>
        </c:dLbls>
        <c:gapWidth val="219"/>
        <c:overlap val="-27"/>
        <c:axId val="633796752"/>
        <c:axId val="633788832"/>
      </c:barChart>
      <c:catAx>
        <c:axId val="63379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33788832"/>
        <c:crosses val="autoZero"/>
        <c:auto val="1"/>
        <c:lblAlgn val="ctr"/>
        <c:lblOffset val="100"/>
        <c:noMultiLvlLbl val="0"/>
      </c:catAx>
      <c:valAx>
        <c:axId val="633788832"/>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r>
                  <a:rPr lang="en-US" dirty="0">
                    <a:solidFill>
                      <a:schemeClr val="tx1"/>
                    </a:solidFill>
                  </a:rPr>
                  <a:t>Hypertension</a:t>
                </a:r>
                <a:r>
                  <a:rPr lang="en-US" baseline="0" dirty="0">
                    <a:solidFill>
                      <a:schemeClr val="tx1"/>
                    </a:solidFill>
                  </a:rPr>
                  <a:t> </a:t>
                </a:r>
                <a:r>
                  <a:rPr lang="en-US" sz="1400" b="0" i="0" u="none" strike="noStrike" kern="1200" baseline="0" dirty="0">
                    <a:solidFill>
                      <a:schemeClr val="tx1"/>
                    </a:solidFill>
                    <a:latin typeface="Inter"/>
                  </a:rPr>
                  <a:t>Prevalence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crossAx val="63379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9FB0C-2D81-46AB-82BB-E6B7E9BDA2BB}"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23F13-4DBF-4E69-8C0D-655DFA28E21A}" type="slidenum">
              <a:rPr lang="en-US" smtClean="0"/>
              <a:t>‹#›</a:t>
            </a:fld>
            <a:endParaRPr lang="en-US"/>
          </a:p>
        </p:txBody>
      </p:sp>
    </p:spTree>
    <p:extLst>
      <p:ext uri="{BB962C8B-B14F-4D97-AF65-F5344CB8AC3E}">
        <p14:creationId xmlns:p14="http://schemas.microsoft.com/office/powerpoint/2010/main" val="1359781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Insight:</a:t>
            </a:r>
            <a:r>
              <a:rPr lang="en-US" dirty="0"/>
              <a:t> Routine survey information holds deep predictive value, making scalable, digital health-driven preventative screening completely viable</a:t>
            </a:r>
          </a:p>
        </p:txBody>
      </p:sp>
      <p:sp>
        <p:nvSpPr>
          <p:cNvPr id="4" name="Slide Number Placeholder 3"/>
          <p:cNvSpPr>
            <a:spLocks noGrp="1"/>
          </p:cNvSpPr>
          <p:nvPr>
            <p:ph type="sldNum" sz="quarter" idx="5"/>
          </p:nvPr>
        </p:nvSpPr>
        <p:spPr/>
        <p:txBody>
          <a:bodyPr/>
          <a:lstStyle/>
          <a:p>
            <a:fld id="{A6923F13-4DBF-4E69-8C0D-655DFA28E21A}" type="slidenum">
              <a:rPr lang="en-US" smtClean="0"/>
              <a:t>2</a:t>
            </a:fld>
            <a:endParaRPr lang="en-US"/>
          </a:p>
        </p:txBody>
      </p:sp>
    </p:spTree>
    <p:extLst>
      <p:ext uri="{BB962C8B-B14F-4D97-AF65-F5344CB8AC3E}">
        <p14:creationId xmlns:p14="http://schemas.microsoft.com/office/powerpoint/2010/main" val="584267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23F13-4DBF-4E69-8C0D-655DFA28E21A}" type="slidenum">
              <a:rPr lang="en-US" smtClean="0"/>
              <a:t>4</a:t>
            </a:fld>
            <a:endParaRPr lang="en-US"/>
          </a:p>
        </p:txBody>
      </p:sp>
    </p:spTree>
    <p:extLst>
      <p:ext uri="{BB962C8B-B14F-4D97-AF65-F5344CB8AC3E}">
        <p14:creationId xmlns:p14="http://schemas.microsoft.com/office/powerpoint/2010/main" val="1044872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489A-D533-3317-E99E-7133F60AB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DF63C-360A-C5B1-E8B6-22D8F9C64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8154D-FEC6-ED8E-E187-98C2CE8AB434}"/>
              </a:ext>
            </a:extLst>
          </p:cNvPr>
          <p:cNvSpPr>
            <a:spLocks noGrp="1"/>
          </p:cNvSpPr>
          <p:nvPr>
            <p:ph type="body" idx="1"/>
          </p:nvPr>
        </p:nvSpPr>
        <p:spPr/>
        <p:txBody>
          <a:bodyPr/>
          <a:lstStyle/>
          <a:p>
            <a:r>
              <a:rPr lang="en-US" b="1" dirty="0"/>
              <a:t>Key Insight:</a:t>
            </a:r>
            <a:r>
              <a:rPr lang="en-US" dirty="0"/>
              <a:t> Routine survey information holds deep predictive value, making scalable, digital health-driven preventative screening completely viable</a:t>
            </a:r>
          </a:p>
        </p:txBody>
      </p:sp>
      <p:sp>
        <p:nvSpPr>
          <p:cNvPr id="4" name="Slide Number Placeholder 3">
            <a:extLst>
              <a:ext uri="{FF2B5EF4-FFF2-40B4-BE49-F238E27FC236}">
                <a16:creationId xmlns:a16="http://schemas.microsoft.com/office/drawing/2014/main" id="{47A0AC70-FB3D-0102-BC23-44C5F7E1EF15}"/>
              </a:ext>
            </a:extLst>
          </p:cNvPr>
          <p:cNvSpPr>
            <a:spLocks noGrp="1"/>
          </p:cNvSpPr>
          <p:nvPr>
            <p:ph type="sldNum" sz="quarter" idx="5"/>
          </p:nvPr>
        </p:nvSpPr>
        <p:spPr/>
        <p:txBody>
          <a:bodyPr/>
          <a:lstStyle/>
          <a:p>
            <a:fld id="{A6923F13-4DBF-4E69-8C0D-655DFA28E21A}" type="slidenum">
              <a:rPr lang="en-US" smtClean="0"/>
              <a:t>7</a:t>
            </a:fld>
            <a:endParaRPr lang="en-US"/>
          </a:p>
        </p:txBody>
      </p:sp>
    </p:spTree>
    <p:extLst>
      <p:ext uri="{BB962C8B-B14F-4D97-AF65-F5344CB8AC3E}">
        <p14:creationId xmlns:p14="http://schemas.microsoft.com/office/powerpoint/2010/main" val="93910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exploratory data analysis, we verified that as expected, hypertension rates climb steadily as age increases. We also see an identical, stark upward trend when looking at Body Mass Index. This gave us strong confidence that the self-reported survey metrics were reliable inputs for predictive modeling</a:t>
            </a:r>
          </a:p>
        </p:txBody>
      </p:sp>
      <p:sp>
        <p:nvSpPr>
          <p:cNvPr id="4" name="Slide Number Placeholder 3"/>
          <p:cNvSpPr>
            <a:spLocks noGrp="1"/>
          </p:cNvSpPr>
          <p:nvPr>
            <p:ph type="sldNum" sz="quarter" idx="5"/>
          </p:nvPr>
        </p:nvSpPr>
        <p:spPr/>
        <p:txBody>
          <a:bodyPr/>
          <a:lstStyle/>
          <a:p>
            <a:fld id="{A6923F13-4DBF-4E69-8C0D-655DFA28E21A}" type="slidenum">
              <a:rPr lang="en-US" smtClean="0"/>
              <a:t>8</a:t>
            </a:fld>
            <a:endParaRPr lang="en-US"/>
          </a:p>
        </p:txBody>
      </p:sp>
    </p:spTree>
    <p:extLst>
      <p:ext uri="{BB962C8B-B14F-4D97-AF65-F5344CB8AC3E}">
        <p14:creationId xmlns:p14="http://schemas.microsoft.com/office/powerpoint/2010/main" val="967194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age and weight, lifestyle and environment matter. As shown in the graph on the left, lower fruit and vegetable intake correlates with higher hypertension rates. Crucially, we also saw socioeconomic patterns: individuals in lower-income tiers or those unable to work had much higher rates of the disease. This highlights that chronic disease is deeply tied to lifestyle and social determinants of health. </a:t>
            </a:r>
          </a:p>
        </p:txBody>
      </p:sp>
      <p:sp>
        <p:nvSpPr>
          <p:cNvPr id="4" name="Slide Number Placeholder 3"/>
          <p:cNvSpPr>
            <a:spLocks noGrp="1"/>
          </p:cNvSpPr>
          <p:nvPr>
            <p:ph type="sldNum" sz="quarter" idx="5"/>
          </p:nvPr>
        </p:nvSpPr>
        <p:spPr/>
        <p:txBody>
          <a:bodyPr/>
          <a:lstStyle/>
          <a:p>
            <a:fld id="{A6923F13-4DBF-4E69-8C0D-655DFA28E21A}" type="slidenum">
              <a:rPr lang="en-US" smtClean="0"/>
              <a:t>9</a:t>
            </a:fld>
            <a:endParaRPr lang="en-US"/>
          </a:p>
        </p:txBody>
      </p:sp>
    </p:spTree>
    <p:extLst>
      <p:ext uri="{BB962C8B-B14F-4D97-AF65-F5344CB8AC3E}">
        <p14:creationId xmlns:p14="http://schemas.microsoft.com/office/powerpoint/2010/main" val="1244481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E2810-826A-0A3C-243A-9050B4F53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5C274-2DDB-2365-73FF-30D2F11AD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BCC17-E180-22DE-32CB-077E0368F5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EBD3E2-2FB6-1507-DBF5-F13981149FE5}"/>
              </a:ext>
            </a:extLst>
          </p:cNvPr>
          <p:cNvSpPr>
            <a:spLocks noGrp="1"/>
          </p:cNvSpPr>
          <p:nvPr>
            <p:ph type="sldNum" sz="quarter" idx="5"/>
          </p:nvPr>
        </p:nvSpPr>
        <p:spPr/>
        <p:txBody>
          <a:bodyPr/>
          <a:lstStyle/>
          <a:p>
            <a:fld id="{A6923F13-4DBF-4E69-8C0D-655DFA28E21A}" type="slidenum">
              <a:rPr lang="en-US" smtClean="0"/>
              <a:t>10</a:t>
            </a:fld>
            <a:endParaRPr lang="en-US"/>
          </a:p>
        </p:txBody>
      </p:sp>
    </p:spTree>
    <p:extLst>
      <p:ext uri="{BB962C8B-B14F-4D97-AF65-F5344CB8AC3E}">
        <p14:creationId xmlns:p14="http://schemas.microsoft.com/office/powerpoint/2010/main" val="1841642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23F13-4DBF-4E69-8C0D-655DFA28E21A}" type="slidenum">
              <a:rPr lang="en-US" smtClean="0"/>
              <a:t>11</a:t>
            </a:fld>
            <a:endParaRPr lang="en-US"/>
          </a:p>
        </p:txBody>
      </p:sp>
    </p:spTree>
    <p:extLst>
      <p:ext uri="{BB962C8B-B14F-4D97-AF65-F5344CB8AC3E}">
        <p14:creationId xmlns:p14="http://schemas.microsoft.com/office/powerpoint/2010/main" val="3964050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228A-2E73-1553-6368-7F08F3E43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904FC-E008-AD1B-6D08-A1BB2328D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6A9001-5BDA-60B2-4497-09144826A5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917AD93-8FAE-5A18-0601-C85F52565E51}"/>
              </a:ext>
            </a:extLst>
          </p:cNvPr>
          <p:cNvSpPr>
            <a:spLocks noGrp="1"/>
          </p:cNvSpPr>
          <p:nvPr>
            <p:ph type="sldNum" sz="quarter" idx="5"/>
          </p:nvPr>
        </p:nvSpPr>
        <p:spPr/>
        <p:txBody>
          <a:bodyPr/>
          <a:lstStyle/>
          <a:p>
            <a:fld id="{A6923F13-4DBF-4E69-8C0D-655DFA28E21A}" type="slidenum">
              <a:rPr lang="en-US" smtClean="0"/>
              <a:t>12</a:t>
            </a:fld>
            <a:endParaRPr lang="en-US"/>
          </a:p>
        </p:txBody>
      </p:sp>
    </p:spTree>
    <p:extLst>
      <p:ext uri="{BB962C8B-B14F-4D97-AF65-F5344CB8AC3E}">
        <p14:creationId xmlns:p14="http://schemas.microsoft.com/office/powerpoint/2010/main" val="4215293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23F13-4DBF-4E69-8C0D-655DFA28E21A}" type="slidenum">
              <a:rPr lang="en-US" smtClean="0"/>
              <a:t>13</a:t>
            </a:fld>
            <a:endParaRPr lang="en-US"/>
          </a:p>
        </p:txBody>
      </p:sp>
    </p:spTree>
    <p:extLst>
      <p:ext uri="{BB962C8B-B14F-4D97-AF65-F5344CB8AC3E}">
        <p14:creationId xmlns:p14="http://schemas.microsoft.com/office/powerpoint/2010/main" val="1699565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23F13-4DBF-4E69-8C0D-655DFA28E21A}" type="slidenum">
              <a:rPr lang="en-US" smtClean="0"/>
              <a:t>15</a:t>
            </a:fld>
            <a:endParaRPr lang="en-US"/>
          </a:p>
        </p:txBody>
      </p:sp>
    </p:spTree>
    <p:extLst>
      <p:ext uri="{BB962C8B-B14F-4D97-AF65-F5344CB8AC3E}">
        <p14:creationId xmlns:p14="http://schemas.microsoft.com/office/powerpoint/2010/main" val="3554136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23F13-4DBF-4E69-8C0D-655DFA28E21A}" type="slidenum">
              <a:rPr lang="en-US" smtClean="0"/>
              <a:t>16</a:t>
            </a:fld>
            <a:endParaRPr lang="en-US"/>
          </a:p>
        </p:txBody>
      </p:sp>
    </p:spTree>
    <p:extLst>
      <p:ext uri="{BB962C8B-B14F-4D97-AF65-F5344CB8AC3E}">
        <p14:creationId xmlns:p14="http://schemas.microsoft.com/office/powerpoint/2010/main" val="1777461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8FDE8-61AD-90C0-87B8-3C069E2F9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42762-E74C-F322-C51C-0C15128D5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66A4A-364A-B7CF-0858-A5509DF5C8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88AD58-4DC9-E3DF-8FF0-3D3E98E89139}"/>
              </a:ext>
            </a:extLst>
          </p:cNvPr>
          <p:cNvSpPr>
            <a:spLocks noGrp="1"/>
          </p:cNvSpPr>
          <p:nvPr>
            <p:ph type="sldNum" sz="quarter" idx="5"/>
          </p:nvPr>
        </p:nvSpPr>
        <p:spPr/>
        <p:txBody>
          <a:bodyPr/>
          <a:lstStyle/>
          <a:p>
            <a:fld id="{A6923F13-4DBF-4E69-8C0D-655DFA28E21A}" type="slidenum">
              <a:rPr lang="en-US" smtClean="0"/>
              <a:t>17</a:t>
            </a:fld>
            <a:endParaRPr lang="en-US"/>
          </a:p>
        </p:txBody>
      </p:sp>
    </p:spTree>
    <p:extLst>
      <p:ext uri="{BB962C8B-B14F-4D97-AF65-F5344CB8AC3E}">
        <p14:creationId xmlns:p14="http://schemas.microsoft.com/office/powerpoint/2010/main" val="2593797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952500" y="1980455"/>
            <a:ext cx="2085975" cy="276225"/>
          </a:xfrm>
          <a:prstGeom prst="rect">
            <a:avLst/>
          </a:prstGeom>
        </p:spPr>
      </p:pic>
      <p:pic>
        <p:nvPicPr>
          <p:cNvPr id="4" name="Picture 3" descr="image.png"/>
          <p:cNvPicPr>
            <a:picLocks noChangeAspect="1"/>
          </p:cNvPicPr>
          <p:nvPr/>
        </p:nvPicPr>
        <p:blipFill>
          <a:blip r:embed="rId4"/>
          <a:stretch>
            <a:fillRect/>
          </a:stretch>
        </p:blipFill>
        <p:spPr>
          <a:xfrm>
            <a:off x="952500" y="4053036"/>
            <a:ext cx="10668000" cy="824358"/>
          </a:xfrm>
          <a:prstGeom prst="rect">
            <a:avLst/>
          </a:prstGeom>
        </p:spPr>
      </p:pic>
      <p:sp>
        <p:nvSpPr>
          <p:cNvPr id="5" name="TextBox 4"/>
          <p:cNvSpPr txBox="1"/>
          <p:nvPr/>
        </p:nvSpPr>
        <p:spPr>
          <a:xfrm>
            <a:off x="952500" y="2494805"/>
            <a:ext cx="11201400" cy="569565"/>
          </a:xfrm>
          <a:prstGeom prst="rect">
            <a:avLst/>
          </a:prstGeom>
          <a:noFill/>
        </p:spPr>
        <p:txBody>
          <a:bodyPr wrap="square" lIns="0" tIns="0" rIns="0" bIns="0" anchor="t">
            <a:spAutoFit/>
          </a:bodyPr>
          <a:lstStyle/>
          <a:p>
            <a:pPr algn="l">
              <a:lnSpc>
                <a:spcPts val="4484"/>
              </a:lnSpc>
            </a:pPr>
            <a:r>
              <a:rPr sz="3900" b="1" i="0" u="none">
                <a:solidFill>
                  <a:srgbClr val="0B252E"/>
                </a:solidFill>
                <a:latin typeface="Montserrat"/>
              </a:rPr>
              <a:t>Predicting Hypertension Risk</a:t>
            </a:r>
          </a:p>
        </p:txBody>
      </p:sp>
      <p:sp>
        <p:nvSpPr>
          <p:cNvPr id="6" name="TextBox 5"/>
          <p:cNvSpPr txBox="1"/>
          <p:nvPr/>
        </p:nvSpPr>
        <p:spPr>
          <a:xfrm>
            <a:off x="952500" y="3207246"/>
            <a:ext cx="10668000" cy="254365"/>
          </a:xfrm>
          <a:prstGeom prst="rect">
            <a:avLst/>
          </a:prstGeom>
          <a:noFill/>
        </p:spPr>
        <p:txBody>
          <a:bodyPr wrap="square" lIns="0" tIns="0" rIns="0" bIns="0" anchor="t">
            <a:spAutoFit/>
          </a:bodyPr>
          <a:lstStyle/>
          <a:p>
            <a:pPr algn="l">
              <a:lnSpc>
                <a:spcPts val="2160"/>
              </a:lnSpc>
            </a:pPr>
            <a:r>
              <a:rPr sz="1350" b="0" i="0" u="none" dirty="0">
                <a:solidFill>
                  <a:srgbClr val="10B981"/>
                </a:solidFill>
                <a:latin typeface="Montserrat Medium"/>
              </a:rPr>
              <a:t>USING MACHINE LEARNING TO DECODE LIFESTYLE</a:t>
            </a:r>
            <a:r>
              <a:rPr lang="en-US" sz="1350" b="0" i="0" u="none" dirty="0">
                <a:solidFill>
                  <a:srgbClr val="10B981"/>
                </a:solidFill>
                <a:latin typeface="Montserrat Medium"/>
              </a:rPr>
              <a:t>, </a:t>
            </a:r>
            <a:r>
              <a:rPr sz="1350" b="0" i="0" u="none" dirty="0">
                <a:solidFill>
                  <a:srgbClr val="10B981"/>
                </a:solidFill>
                <a:latin typeface="Montserrat Medium"/>
              </a:rPr>
              <a:t>BEHAVIORAL</a:t>
            </a:r>
            <a:r>
              <a:rPr lang="en-US" sz="1350" b="0" i="0" u="none" dirty="0">
                <a:solidFill>
                  <a:srgbClr val="10B981"/>
                </a:solidFill>
                <a:latin typeface="Montserrat Medium"/>
              </a:rPr>
              <a:t>, &amp; SOCIOECONOMIC</a:t>
            </a:r>
            <a:r>
              <a:rPr sz="1350" b="0" i="0" u="none" dirty="0">
                <a:solidFill>
                  <a:srgbClr val="10B981"/>
                </a:solidFill>
                <a:latin typeface="Montserrat Medium"/>
              </a:rPr>
              <a:t> FACTORS</a:t>
            </a:r>
          </a:p>
        </p:txBody>
      </p:sp>
      <p:sp>
        <p:nvSpPr>
          <p:cNvPr id="7" name="TextBox 6"/>
          <p:cNvSpPr txBox="1"/>
          <p:nvPr/>
        </p:nvSpPr>
        <p:spPr>
          <a:xfrm>
            <a:off x="952500" y="4452639"/>
            <a:ext cx="1250156" cy="142875"/>
          </a:xfrm>
          <a:prstGeom prst="rect">
            <a:avLst/>
          </a:prstGeom>
          <a:noFill/>
        </p:spPr>
        <p:txBody>
          <a:bodyPr wrap="square" lIns="0" tIns="0" rIns="0" bIns="0" anchor="t">
            <a:spAutoFit/>
          </a:bodyPr>
          <a:lstStyle/>
          <a:p>
            <a:pPr algn="l"/>
            <a:r>
              <a:rPr sz="900" b="1" i="0" u="none" dirty="0">
                <a:solidFill>
                  <a:srgbClr val="94A3B8"/>
                </a:solidFill>
                <a:latin typeface="Inter"/>
              </a:rPr>
              <a:t>PRESENTER</a:t>
            </a:r>
          </a:p>
        </p:txBody>
      </p:sp>
      <p:sp>
        <p:nvSpPr>
          <p:cNvPr id="8" name="TextBox 7"/>
          <p:cNvSpPr txBox="1"/>
          <p:nvPr/>
        </p:nvSpPr>
        <p:spPr>
          <a:xfrm>
            <a:off x="952500" y="4633614"/>
            <a:ext cx="1190625" cy="243780"/>
          </a:xfrm>
          <a:prstGeom prst="rect">
            <a:avLst/>
          </a:prstGeom>
          <a:noFill/>
        </p:spPr>
        <p:txBody>
          <a:bodyPr wrap="square" lIns="0" tIns="0" rIns="0" bIns="0" anchor="t">
            <a:spAutoFit/>
          </a:bodyPr>
          <a:lstStyle/>
          <a:p>
            <a:pPr algn="l">
              <a:lnSpc>
                <a:spcPts val="1920"/>
              </a:lnSpc>
            </a:pPr>
            <a:r>
              <a:rPr sz="1200" b="0" i="0" u="none">
                <a:solidFill>
                  <a:srgbClr val="0B252E"/>
                </a:solidFill>
                <a:latin typeface="Inter SemiBold"/>
              </a:rPr>
              <a:t>Gayathri Ramani</a:t>
            </a:r>
          </a:p>
        </p:txBody>
      </p:sp>
      <p:sp>
        <p:nvSpPr>
          <p:cNvPr id="9" name="TextBox 8"/>
          <p:cNvSpPr txBox="1"/>
          <p:nvPr/>
        </p:nvSpPr>
        <p:spPr>
          <a:xfrm>
            <a:off x="2714625" y="4452639"/>
            <a:ext cx="2840355" cy="142875"/>
          </a:xfrm>
          <a:prstGeom prst="rect">
            <a:avLst/>
          </a:prstGeom>
          <a:noFill/>
        </p:spPr>
        <p:txBody>
          <a:bodyPr wrap="square" lIns="0" tIns="0" rIns="0" bIns="0" anchor="t">
            <a:spAutoFit/>
          </a:bodyPr>
          <a:lstStyle/>
          <a:p>
            <a:pPr algn="l"/>
            <a:r>
              <a:rPr sz="900" b="1" i="0" u="none">
                <a:solidFill>
                  <a:srgbClr val="94A3B8"/>
                </a:solidFill>
                <a:latin typeface="Inter"/>
              </a:rPr>
              <a:t>PROGRAM</a:t>
            </a:r>
          </a:p>
        </p:txBody>
      </p:sp>
      <p:sp>
        <p:nvSpPr>
          <p:cNvPr id="10" name="TextBox 9"/>
          <p:cNvSpPr txBox="1"/>
          <p:nvPr/>
        </p:nvSpPr>
        <p:spPr>
          <a:xfrm>
            <a:off x="2714625" y="4633614"/>
            <a:ext cx="2705100" cy="223394"/>
          </a:xfrm>
          <a:prstGeom prst="rect">
            <a:avLst/>
          </a:prstGeom>
          <a:noFill/>
        </p:spPr>
        <p:txBody>
          <a:bodyPr wrap="square" lIns="0" tIns="0" rIns="0" bIns="0" anchor="t">
            <a:spAutoFit/>
          </a:bodyPr>
          <a:lstStyle/>
          <a:p>
            <a:pPr algn="l">
              <a:lnSpc>
                <a:spcPts val="1920"/>
              </a:lnSpc>
            </a:pPr>
            <a:r>
              <a:rPr sz="1200" b="0" i="0" u="none" dirty="0">
                <a:solidFill>
                  <a:srgbClr val="0B252E"/>
                </a:solidFill>
                <a:latin typeface="Inter SemiBold"/>
              </a:rPr>
              <a:t>Springboard Data Science </a:t>
            </a:r>
            <a:r>
              <a:rPr lang="en-US" sz="1200" dirty="0">
                <a:solidFill>
                  <a:srgbClr val="0B252E"/>
                </a:solidFill>
                <a:latin typeface="Inter SemiBold"/>
              </a:rPr>
              <a:t>Program</a:t>
            </a:r>
            <a:endParaRPr sz="1200" b="0" i="0" u="none" dirty="0">
              <a:solidFill>
                <a:srgbClr val="0B252E"/>
              </a:solidFill>
              <a:latin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297608"/>
            <a:ext cx="5334000" cy="2900957"/>
          </a:xfrm>
          <a:prstGeom prst="rect">
            <a:avLst/>
          </a:prstGeom>
        </p:spPr>
      </p:pic>
      <p:pic>
        <p:nvPicPr>
          <p:cNvPr id="4" name="Picture 3" descr="image.png"/>
          <p:cNvPicPr>
            <a:picLocks noChangeAspect="1"/>
          </p:cNvPicPr>
          <p:nvPr/>
        </p:nvPicPr>
        <p:blipFill>
          <a:blip r:embed="rId5"/>
          <a:stretch>
            <a:fillRect/>
          </a:stretch>
        </p:blipFill>
        <p:spPr>
          <a:xfrm>
            <a:off x="6286500" y="2297608"/>
            <a:ext cx="5334000" cy="2900957"/>
          </a:xfrm>
          <a:prstGeom prst="rect">
            <a:avLst/>
          </a:prstGeom>
        </p:spPr>
      </p:pic>
      <p:sp>
        <p:nvSpPr>
          <p:cNvPr id="5" name="TextBox 4"/>
          <p:cNvSpPr txBox="1"/>
          <p:nvPr/>
        </p:nvSpPr>
        <p:spPr>
          <a:xfrm>
            <a:off x="914400" y="2640508"/>
            <a:ext cx="4880610" cy="253916"/>
          </a:xfrm>
          <a:prstGeom prst="rect">
            <a:avLst/>
          </a:prstGeom>
          <a:noFill/>
        </p:spPr>
        <p:txBody>
          <a:bodyPr wrap="square" lIns="0" tIns="0" rIns="0" bIns="0" anchor="t">
            <a:spAutoFit/>
          </a:bodyPr>
          <a:lstStyle/>
          <a:p>
            <a:pPr algn="l"/>
            <a:r>
              <a:rPr sz="1650" b="0" i="0" u="none" dirty="0">
                <a:latin typeface="Montserrat SemiBold"/>
              </a:rPr>
              <a:t>The Challenge &amp; Data</a:t>
            </a:r>
          </a:p>
        </p:txBody>
      </p:sp>
      <p:sp>
        <p:nvSpPr>
          <p:cNvPr id="6" name="Rectangle 5"/>
          <p:cNvSpPr/>
          <p:nvPr/>
        </p:nvSpPr>
        <p:spPr>
          <a:xfrm>
            <a:off x="914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250108"/>
            <a:ext cx="4648200" cy="467051"/>
          </a:xfrm>
          <a:prstGeom prst="rect">
            <a:avLst/>
          </a:prstGeom>
          <a:noFill/>
        </p:spPr>
        <p:txBody>
          <a:bodyPr wrap="square" lIns="0" tIns="0" rIns="0" bIns="0" anchor="t">
            <a:spAutoFit/>
          </a:bodyPr>
          <a:lstStyle/>
          <a:p>
            <a:pPr algn="l">
              <a:lnSpc>
                <a:spcPts val="1920"/>
              </a:lnSpc>
            </a:pPr>
            <a:r>
              <a:rPr sz="1200" b="0" i="0" u="none" dirty="0">
                <a:latin typeface="Inter"/>
              </a:rPr>
              <a:t>Hypertension remains one of the most widespread but modifiable public health threats in the United States, yet millions are diagnosed too late.</a:t>
            </a:r>
          </a:p>
        </p:txBody>
      </p:sp>
      <p:sp>
        <p:nvSpPr>
          <p:cNvPr id="8" name="TextBox 7"/>
          <p:cNvSpPr txBox="1"/>
          <p:nvPr/>
        </p:nvSpPr>
        <p:spPr>
          <a:xfrm>
            <a:off x="914400" y="4124325"/>
            <a:ext cx="4648200" cy="731341"/>
          </a:xfrm>
          <a:prstGeom prst="rect">
            <a:avLst/>
          </a:prstGeom>
          <a:noFill/>
        </p:spPr>
        <p:txBody>
          <a:bodyPr wrap="square" lIns="0" tIns="0" rIns="0" bIns="0" anchor="t">
            <a:spAutoFit/>
          </a:bodyPr>
          <a:lstStyle/>
          <a:p>
            <a:pPr algn="l">
              <a:lnSpc>
                <a:spcPts val="1920"/>
              </a:lnSpc>
            </a:pPr>
            <a:r>
              <a:rPr sz="1200" b="0" i="0" u="none" dirty="0">
                <a:latin typeface="Inter"/>
              </a:rPr>
              <a:t>We utilized routine health survey answers from </a:t>
            </a:r>
            <a:r>
              <a:rPr sz="1200" b="1" i="0" u="none" dirty="0">
                <a:latin typeface="Inter"/>
              </a:rPr>
              <a:t>436,781 adults</a:t>
            </a:r>
            <a:r>
              <a:rPr sz="1200" b="0" i="0" u="none" dirty="0">
                <a:latin typeface="Inter"/>
              </a:rPr>
              <a:t> (CDC 2021 BRFSS) to build predictive models without clinical readings or expensive laboratory diagnostic histories.</a:t>
            </a:r>
          </a:p>
        </p:txBody>
      </p:sp>
      <p:sp>
        <p:nvSpPr>
          <p:cNvPr id="9" name="TextBox 8"/>
          <p:cNvSpPr txBox="1"/>
          <p:nvPr/>
        </p:nvSpPr>
        <p:spPr>
          <a:xfrm>
            <a:off x="6629400" y="2640508"/>
            <a:ext cx="4880610" cy="253916"/>
          </a:xfrm>
          <a:prstGeom prst="rect">
            <a:avLst/>
          </a:prstGeom>
          <a:noFill/>
        </p:spPr>
        <p:txBody>
          <a:bodyPr wrap="square" lIns="0" tIns="0" rIns="0" bIns="0" anchor="t">
            <a:spAutoFit/>
          </a:bodyPr>
          <a:lstStyle/>
          <a:p>
            <a:pPr algn="l"/>
            <a:r>
              <a:rPr sz="1650" b="0" i="0" u="none" dirty="0">
                <a:latin typeface="Montserrat SemiBold"/>
              </a:rPr>
              <a:t>Modeling &amp; Results</a:t>
            </a:r>
          </a:p>
        </p:txBody>
      </p:sp>
      <p:sp>
        <p:nvSpPr>
          <p:cNvPr id="10" name="Rectangle 9"/>
          <p:cNvSpPr/>
          <p:nvPr/>
        </p:nvSpPr>
        <p:spPr>
          <a:xfrm>
            <a:off x="6629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3250108"/>
            <a:ext cx="4648200" cy="467051"/>
          </a:xfrm>
          <a:prstGeom prst="rect">
            <a:avLst/>
          </a:prstGeom>
          <a:noFill/>
        </p:spPr>
        <p:txBody>
          <a:bodyPr wrap="square" lIns="0" tIns="0" rIns="0" bIns="0" anchor="t">
            <a:spAutoFit/>
          </a:bodyPr>
          <a:lstStyle/>
          <a:p>
            <a:pPr>
              <a:lnSpc>
                <a:spcPts val="1920"/>
              </a:lnSpc>
            </a:pPr>
            <a:r>
              <a:rPr sz="1200" b="0" i="0" u="none" dirty="0">
                <a:latin typeface="Inter"/>
              </a:rPr>
              <a:t>Three algorithms were evaluated: Logistic Regression, Decision Tree, and Random Forest.</a:t>
            </a:r>
          </a:p>
        </p:txBody>
      </p:sp>
      <p:sp>
        <p:nvSpPr>
          <p:cNvPr id="12" name="TextBox 11"/>
          <p:cNvSpPr txBox="1"/>
          <p:nvPr/>
        </p:nvSpPr>
        <p:spPr>
          <a:xfrm>
            <a:off x="6629400" y="3880544"/>
            <a:ext cx="4648200" cy="731341"/>
          </a:xfrm>
          <a:prstGeom prst="rect">
            <a:avLst/>
          </a:prstGeom>
          <a:noFill/>
        </p:spPr>
        <p:txBody>
          <a:bodyPr wrap="square" lIns="0" tIns="0" rIns="0" bIns="0" anchor="t">
            <a:spAutoFit/>
          </a:bodyPr>
          <a:lstStyle/>
          <a:p>
            <a:pPr algn="l">
              <a:lnSpc>
                <a:spcPts val="1920"/>
              </a:lnSpc>
            </a:pPr>
            <a:r>
              <a:rPr sz="1200" b="0" i="0" u="none" dirty="0">
                <a:latin typeface="Inter"/>
              </a:rPr>
              <a:t>The </a:t>
            </a:r>
            <a:r>
              <a:rPr sz="1200" b="1" i="0" u="none" dirty="0">
                <a:latin typeface="Inter"/>
              </a:rPr>
              <a:t>Tuned Random Forest</a:t>
            </a:r>
            <a:r>
              <a:rPr sz="1200" b="0" i="0" u="none" dirty="0">
                <a:latin typeface="Inter"/>
              </a:rPr>
              <a:t> led in performance, delivering </a:t>
            </a:r>
            <a:r>
              <a:rPr sz="1200" b="1" i="0" u="none" dirty="0">
                <a:latin typeface="Inter"/>
              </a:rPr>
              <a:t>72.3% test accuracy</a:t>
            </a:r>
            <a:r>
              <a:rPr sz="1200" b="0" i="0" u="none" dirty="0">
                <a:latin typeface="Inter"/>
              </a:rPr>
              <a:t> and a strong </a:t>
            </a:r>
            <a:r>
              <a:rPr sz="1200" b="1" i="0" u="none" dirty="0">
                <a:latin typeface="Inter"/>
              </a:rPr>
              <a:t>0.789 ROC-AUC</a:t>
            </a:r>
            <a:r>
              <a:rPr sz="1200" b="0" i="0" u="none" dirty="0">
                <a:latin typeface="Inter"/>
              </a:rPr>
              <a:t>, validating that routine questionnaires contain robust signal for screening.</a:t>
            </a:r>
          </a:p>
        </p:txBody>
      </p:sp>
      <p:sp>
        <p:nvSpPr>
          <p:cNvPr id="13" name="TextBox 12"/>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Executive Summary</a:t>
            </a:r>
          </a:p>
        </p:txBody>
      </p:sp>
      <p:sp>
        <p:nvSpPr>
          <p:cNvPr id="14" name="Rectangle 13"/>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95575"/>
            <a:ext cx="5334000" cy="2105025"/>
          </a:xfrm>
          <a:prstGeom prst="rect">
            <a:avLst/>
          </a:prstGeom>
        </p:spPr>
      </p:pic>
      <p:sp>
        <p:nvSpPr>
          <p:cNvPr id="4" name="TextBox 3"/>
          <p:cNvSpPr txBox="1"/>
          <p:nvPr/>
        </p:nvSpPr>
        <p:spPr>
          <a:xfrm>
            <a:off x="2209800" y="3086100"/>
            <a:ext cx="2057400" cy="952500"/>
          </a:xfrm>
          <a:prstGeom prst="rect">
            <a:avLst/>
          </a:prstGeom>
          <a:noFill/>
        </p:spPr>
        <p:txBody>
          <a:bodyPr wrap="square" lIns="0" tIns="0" rIns="0" bIns="0" anchor="t">
            <a:spAutoFit/>
          </a:bodyPr>
          <a:lstStyle/>
          <a:p>
            <a:pPr algn="l">
              <a:lnSpc>
                <a:spcPts val="7500"/>
              </a:lnSpc>
            </a:pPr>
            <a:r>
              <a:rPr sz="7500" b="1" i="0" u="none">
                <a:solidFill>
                  <a:srgbClr val="10B981"/>
                </a:solidFill>
                <a:latin typeface="Montserrat"/>
              </a:rPr>
              <a:t>50%</a:t>
            </a:r>
          </a:p>
        </p:txBody>
      </p:sp>
      <p:sp>
        <p:nvSpPr>
          <p:cNvPr id="5" name="TextBox 4"/>
          <p:cNvSpPr txBox="1"/>
          <p:nvPr/>
        </p:nvSpPr>
        <p:spPr>
          <a:xfrm>
            <a:off x="2305050" y="4181475"/>
            <a:ext cx="1866900" cy="228600"/>
          </a:xfrm>
          <a:prstGeom prst="rect">
            <a:avLst/>
          </a:prstGeom>
          <a:noFill/>
        </p:spPr>
        <p:txBody>
          <a:bodyPr wrap="square" lIns="0" tIns="0" rIns="0" bIns="0" anchor="t">
            <a:spAutoFit/>
          </a:bodyPr>
          <a:lstStyle/>
          <a:p>
            <a:pPr algn="ctr"/>
            <a:r>
              <a:rPr sz="1500" b="0" i="0" u="none">
                <a:solidFill>
                  <a:srgbClr val="0B252E"/>
                </a:solidFill>
                <a:latin typeface="Inter SemiBold"/>
              </a:rPr>
              <a:t>U.S. Adults Affected</a:t>
            </a:r>
          </a:p>
        </p:txBody>
      </p:sp>
      <p:sp>
        <p:nvSpPr>
          <p:cNvPr id="6" name="TextBox 5"/>
          <p:cNvSpPr txBox="1"/>
          <p:nvPr/>
        </p:nvSpPr>
        <p:spPr>
          <a:xfrm>
            <a:off x="6286500" y="2697658"/>
            <a:ext cx="5600700" cy="257175"/>
          </a:xfrm>
          <a:prstGeom prst="rect">
            <a:avLst/>
          </a:prstGeom>
          <a:noFill/>
        </p:spPr>
        <p:txBody>
          <a:bodyPr wrap="square" lIns="0" tIns="0" rIns="0" bIns="0" anchor="t">
            <a:spAutoFit/>
          </a:bodyPr>
          <a:lstStyle/>
          <a:p>
            <a:pPr algn="l"/>
            <a:r>
              <a:rPr sz="1650" b="0" i="0" u="none" dirty="0">
                <a:solidFill>
                  <a:srgbClr val="0B252E"/>
                </a:solidFill>
                <a:latin typeface="Montserrat SemiBold"/>
              </a:rPr>
              <a:t>The Silent Threat</a:t>
            </a:r>
          </a:p>
        </p:txBody>
      </p:sp>
      <p:sp>
        <p:nvSpPr>
          <p:cNvPr id="7" name="TextBox 6"/>
          <p:cNvSpPr txBox="1"/>
          <p:nvPr/>
        </p:nvSpPr>
        <p:spPr>
          <a:xfrm>
            <a:off x="6286500" y="3050083"/>
            <a:ext cx="5334000" cy="467051"/>
          </a:xfrm>
          <a:prstGeom prst="rect">
            <a:avLst/>
          </a:prstGeom>
          <a:noFill/>
        </p:spPr>
        <p:txBody>
          <a:bodyPr wrap="square" lIns="0" tIns="0" rIns="0" bIns="0" anchor="t">
            <a:spAutoFit/>
          </a:bodyPr>
          <a:lstStyle/>
          <a:p>
            <a:pPr algn="l">
              <a:lnSpc>
                <a:spcPts val="1920"/>
              </a:lnSpc>
            </a:pPr>
            <a:r>
              <a:rPr sz="1200" b="0" i="0" u="none" dirty="0">
                <a:latin typeface="Inter"/>
              </a:rPr>
              <a:t>Symptoms frequently stay hidden for decades until catastrophic cardiovascular or renal outcomes present. Proactive screening is critical.</a:t>
            </a:r>
          </a:p>
        </p:txBody>
      </p:sp>
      <p:sp>
        <p:nvSpPr>
          <p:cNvPr id="8" name="TextBox 7"/>
          <p:cNvSpPr txBox="1"/>
          <p:nvPr/>
        </p:nvSpPr>
        <p:spPr>
          <a:xfrm>
            <a:off x="6286500" y="3680519"/>
            <a:ext cx="5334000" cy="467051"/>
          </a:xfrm>
          <a:prstGeom prst="rect">
            <a:avLst/>
          </a:prstGeom>
          <a:noFill/>
        </p:spPr>
        <p:txBody>
          <a:bodyPr wrap="square" lIns="0" tIns="0" rIns="0" bIns="0" anchor="t">
            <a:spAutoFit/>
          </a:bodyPr>
          <a:lstStyle/>
          <a:p>
            <a:pPr algn="l">
              <a:lnSpc>
                <a:spcPts val="1920"/>
              </a:lnSpc>
            </a:pPr>
            <a:r>
              <a:rPr sz="1200" b="1" i="0" u="none" dirty="0">
                <a:latin typeface="Inter"/>
              </a:rPr>
              <a:t>Economic Load:</a:t>
            </a:r>
            <a:r>
              <a:rPr sz="1200" b="0" i="0" u="none" dirty="0">
                <a:latin typeface="Inter"/>
              </a:rPr>
              <a:t> Chronic management drives billions in yearly direct healthcare spending and heavy functional productivity losses.</a:t>
            </a:r>
          </a:p>
        </p:txBody>
      </p:sp>
      <p:sp>
        <p:nvSpPr>
          <p:cNvPr id="9" name="TextBox 8"/>
          <p:cNvSpPr txBox="1"/>
          <p:nvPr/>
        </p:nvSpPr>
        <p:spPr>
          <a:xfrm>
            <a:off x="6286500" y="4310955"/>
            <a:ext cx="5334000" cy="467051"/>
          </a:xfrm>
          <a:prstGeom prst="rect">
            <a:avLst/>
          </a:prstGeom>
          <a:noFill/>
        </p:spPr>
        <p:txBody>
          <a:bodyPr wrap="square" lIns="0" tIns="0" rIns="0" bIns="0" anchor="t">
            <a:spAutoFit/>
          </a:bodyPr>
          <a:lstStyle/>
          <a:p>
            <a:pPr algn="l">
              <a:lnSpc>
                <a:spcPts val="1920"/>
              </a:lnSpc>
            </a:pPr>
            <a:r>
              <a:rPr sz="1200" b="1" i="0" u="none" dirty="0">
                <a:latin typeface="Inter"/>
              </a:rPr>
              <a:t>Strategic Shift:</a:t>
            </a:r>
            <a:r>
              <a:rPr sz="1200" b="0" i="0" u="none" dirty="0">
                <a:latin typeface="Inter"/>
              </a:rPr>
              <a:t> Population management systems are rotating rapidly towards value-based care, making upfront stratification a priority.</a:t>
            </a:r>
          </a:p>
        </p:txBody>
      </p:sp>
      <p:sp>
        <p:nvSpPr>
          <p:cNvPr id="10" name="TextBox 9"/>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The Burden of Hypertension</a:t>
            </a:r>
          </a:p>
        </p:txBody>
      </p:sp>
      <p:sp>
        <p:nvSpPr>
          <p:cNvPr id="11" name="Rectangle 10"/>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576" y="2891029"/>
            <a:ext cx="2619375" cy="2491382"/>
          </a:xfrm>
          <a:prstGeom prst="rect">
            <a:avLst/>
          </a:prstGeom>
        </p:spPr>
      </p:pic>
      <p:pic>
        <p:nvPicPr>
          <p:cNvPr id="4" name="Picture 3" descr="image.png"/>
          <p:cNvPicPr>
            <a:picLocks noChangeAspect="1"/>
          </p:cNvPicPr>
          <p:nvPr/>
        </p:nvPicPr>
        <p:blipFill>
          <a:blip r:embed="rId4"/>
          <a:stretch>
            <a:fillRect/>
          </a:stretch>
        </p:blipFill>
        <p:spPr>
          <a:xfrm>
            <a:off x="3381375" y="2841426"/>
            <a:ext cx="2619375" cy="2491382"/>
          </a:xfrm>
          <a:prstGeom prst="rect">
            <a:avLst/>
          </a:prstGeom>
        </p:spPr>
      </p:pic>
      <p:pic>
        <p:nvPicPr>
          <p:cNvPr id="5" name="Picture 4" descr="image.png"/>
          <p:cNvPicPr>
            <a:picLocks noChangeAspect="1"/>
          </p:cNvPicPr>
          <p:nvPr/>
        </p:nvPicPr>
        <p:blipFill>
          <a:blip r:embed="rId5"/>
          <a:stretch>
            <a:fillRect/>
          </a:stretch>
        </p:blipFill>
        <p:spPr>
          <a:xfrm>
            <a:off x="6191250" y="2841426"/>
            <a:ext cx="2619375" cy="2491382"/>
          </a:xfrm>
          <a:prstGeom prst="rect">
            <a:avLst/>
          </a:prstGeom>
        </p:spPr>
      </p:pic>
      <p:pic>
        <p:nvPicPr>
          <p:cNvPr id="6" name="Picture 5" descr="image.png"/>
          <p:cNvPicPr>
            <a:picLocks noChangeAspect="1"/>
          </p:cNvPicPr>
          <p:nvPr/>
        </p:nvPicPr>
        <p:blipFill>
          <a:blip r:embed="rId6"/>
          <a:stretch>
            <a:fillRect/>
          </a:stretch>
        </p:blipFill>
        <p:spPr>
          <a:xfrm>
            <a:off x="9001125" y="2841426"/>
            <a:ext cx="2619375" cy="2491382"/>
          </a:xfrm>
          <a:prstGeom prst="rect">
            <a:avLst/>
          </a:prstGeom>
        </p:spPr>
      </p:pic>
      <p:sp>
        <p:nvSpPr>
          <p:cNvPr id="7" name="TextBox 6"/>
          <p:cNvSpPr txBox="1"/>
          <p:nvPr/>
        </p:nvSpPr>
        <p:spPr>
          <a:xfrm>
            <a:off x="571500" y="2163365"/>
            <a:ext cx="11049000" cy="487313"/>
          </a:xfrm>
          <a:prstGeom prst="rect">
            <a:avLst/>
          </a:prstGeom>
          <a:noFill/>
        </p:spPr>
        <p:txBody>
          <a:bodyPr wrap="square" lIns="0" tIns="0" rIns="0" bIns="0" anchor="t">
            <a:spAutoFit/>
          </a:bodyPr>
          <a:lstStyle/>
          <a:p>
            <a:pPr algn="l">
              <a:lnSpc>
                <a:spcPts val="1920"/>
              </a:lnSpc>
            </a:pPr>
            <a:r>
              <a:rPr sz="1600" b="0" i="0" u="none" dirty="0">
                <a:latin typeface="Inter"/>
              </a:rPr>
              <a:t>CDC's 2021 Behavioral Risk Factor Surveillance System (BRFSS) was leveraged. 20 focused, non-clinical parameters were categorized across four key groups:</a:t>
            </a:r>
          </a:p>
        </p:txBody>
      </p:sp>
      <p:pic>
        <p:nvPicPr>
          <p:cNvPr id="8" name="Picture 7" descr="image.png"/>
          <p:cNvPicPr>
            <a:picLocks noChangeAspect="1"/>
          </p:cNvPicPr>
          <p:nvPr/>
        </p:nvPicPr>
        <p:blipFill>
          <a:blip r:embed="rId7"/>
          <a:stretch>
            <a:fillRect/>
          </a:stretch>
        </p:blipFill>
        <p:spPr>
          <a:xfrm>
            <a:off x="809625" y="3079551"/>
            <a:ext cx="476250" cy="476250"/>
          </a:xfrm>
          <a:prstGeom prst="rect">
            <a:avLst/>
          </a:prstGeom>
        </p:spPr>
      </p:pic>
      <p:sp>
        <p:nvSpPr>
          <p:cNvPr id="9" name="TextBox 8"/>
          <p:cNvSpPr txBox="1"/>
          <p:nvPr/>
        </p:nvSpPr>
        <p:spPr>
          <a:xfrm>
            <a:off x="809625" y="3708201"/>
            <a:ext cx="2250281" cy="209550"/>
          </a:xfrm>
          <a:prstGeom prst="rect">
            <a:avLst/>
          </a:prstGeom>
          <a:noFill/>
        </p:spPr>
        <p:txBody>
          <a:bodyPr wrap="square" lIns="0" tIns="0" rIns="0" bIns="0" anchor="t">
            <a:spAutoFit/>
          </a:bodyPr>
          <a:lstStyle/>
          <a:p>
            <a:pPr algn="l"/>
            <a:r>
              <a:rPr sz="1350" b="0" i="0" u="none" dirty="0">
                <a:solidFill>
                  <a:srgbClr val="0B252E"/>
                </a:solidFill>
                <a:latin typeface="Montserrat SemiBold"/>
              </a:rPr>
              <a:t>Demographic</a:t>
            </a:r>
          </a:p>
        </p:txBody>
      </p:sp>
      <p:pic>
        <p:nvPicPr>
          <p:cNvPr id="10" name="Picture 9" descr="image.png"/>
          <p:cNvPicPr>
            <a:picLocks noChangeAspect="1"/>
          </p:cNvPicPr>
          <p:nvPr/>
        </p:nvPicPr>
        <p:blipFill>
          <a:blip r:embed="rId7"/>
          <a:stretch>
            <a:fillRect/>
          </a:stretch>
        </p:blipFill>
        <p:spPr>
          <a:xfrm>
            <a:off x="3619500" y="3079551"/>
            <a:ext cx="476250" cy="476250"/>
          </a:xfrm>
          <a:prstGeom prst="rect">
            <a:avLst/>
          </a:prstGeom>
        </p:spPr>
      </p:pic>
      <p:sp>
        <p:nvSpPr>
          <p:cNvPr id="11" name="TextBox 10"/>
          <p:cNvSpPr txBox="1"/>
          <p:nvPr/>
        </p:nvSpPr>
        <p:spPr>
          <a:xfrm>
            <a:off x="3619500" y="3708201"/>
            <a:ext cx="2250281" cy="209550"/>
          </a:xfrm>
          <a:prstGeom prst="rect">
            <a:avLst/>
          </a:prstGeom>
          <a:noFill/>
        </p:spPr>
        <p:txBody>
          <a:bodyPr wrap="square" lIns="0" tIns="0" rIns="0" bIns="0" anchor="t">
            <a:spAutoFit/>
          </a:bodyPr>
          <a:lstStyle/>
          <a:p>
            <a:pPr algn="l"/>
            <a:r>
              <a:rPr sz="1350" b="0" i="0" u="none">
                <a:solidFill>
                  <a:srgbClr val="0B252E"/>
                </a:solidFill>
                <a:latin typeface="Montserrat SemiBold"/>
              </a:rPr>
              <a:t>Socioeconomic</a:t>
            </a:r>
          </a:p>
        </p:txBody>
      </p:sp>
      <p:pic>
        <p:nvPicPr>
          <p:cNvPr id="12" name="Picture 11" descr="image.png"/>
          <p:cNvPicPr>
            <a:picLocks noChangeAspect="1"/>
          </p:cNvPicPr>
          <p:nvPr/>
        </p:nvPicPr>
        <p:blipFill>
          <a:blip r:embed="rId7"/>
          <a:stretch>
            <a:fillRect/>
          </a:stretch>
        </p:blipFill>
        <p:spPr>
          <a:xfrm>
            <a:off x="6429375" y="3079551"/>
            <a:ext cx="476250" cy="476250"/>
          </a:xfrm>
          <a:prstGeom prst="rect">
            <a:avLst/>
          </a:prstGeom>
        </p:spPr>
      </p:pic>
      <p:sp>
        <p:nvSpPr>
          <p:cNvPr id="13" name="TextBox 12"/>
          <p:cNvSpPr txBox="1"/>
          <p:nvPr/>
        </p:nvSpPr>
        <p:spPr>
          <a:xfrm>
            <a:off x="6429375" y="3708201"/>
            <a:ext cx="2250281" cy="209550"/>
          </a:xfrm>
          <a:prstGeom prst="rect">
            <a:avLst/>
          </a:prstGeom>
          <a:noFill/>
        </p:spPr>
        <p:txBody>
          <a:bodyPr wrap="square" lIns="0" tIns="0" rIns="0" bIns="0" anchor="t">
            <a:spAutoFit/>
          </a:bodyPr>
          <a:lstStyle/>
          <a:p>
            <a:pPr algn="l"/>
            <a:r>
              <a:rPr sz="1350" b="0" i="0" u="none">
                <a:solidFill>
                  <a:srgbClr val="0B252E"/>
                </a:solidFill>
                <a:latin typeface="Montserrat SemiBold"/>
              </a:rPr>
              <a:t>Health Profile</a:t>
            </a:r>
          </a:p>
        </p:txBody>
      </p:sp>
      <p:pic>
        <p:nvPicPr>
          <p:cNvPr id="14" name="Picture 13" descr="image.png"/>
          <p:cNvPicPr>
            <a:picLocks noChangeAspect="1"/>
          </p:cNvPicPr>
          <p:nvPr/>
        </p:nvPicPr>
        <p:blipFill>
          <a:blip r:embed="rId8"/>
          <a:stretch>
            <a:fillRect/>
          </a:stretch>
        </p:blipFill>
        <p:spPr>
          <a:xfrm>
            <a:off x="9239250" y="3079551"/>
            <a:ext cx="476250" cy="476250"/>
          </a:xfrm>
          <a:prstGeom prst="rect">
            <a:avLst/>
          </a:prstGeom>
        </p:spPr>
      </p:pic>
      <p:sp>
        <p:nvSpPr>
          <p:cNvPr id="15" name="TextBox 14"/>
          <p:cNvSpPr txBox="1"/>
          <p:nvPr/>
        </p:nvSpPr>
        <p:spPr>
          <a:xfrm>
            <a:off x="9239250" y="3708201"/>
            <a:ext cx="2250281" cy="209550"/>
          </a:xfrm>
          <a:prstGeom prst="rect">
            <a:avLst/>
          </a:prstGeom>
          <a:noFill/>
        </p:spPr>
        <p:txBody>
          <a:bodyPr wrap="square" lIns="0" tIns="0" rIns="0" bIns="0" anchor="t">
            <a:spAutoFit/>
          </a:bodyPr>
          <a:lstStyle/>
          <a:p>
            <a:pPr algn="l"/>
            <a:r>
              <a:rPr sz="1350" b="0" i="0" u="none">
                <a:solidFill>
                  <a:srgbClr val="0B252E"/>
                </a:solidFill>
                <a:latin typeface="Montserrat SemiBold"/>
              </a:rPr>
              <a:t>Lifestyle &amp; Diet</a:t>
            </a:r>
          </a:p>
        </p:txBody>
      </p:sp>
      <p:pic>
        <p:nvPicPr>
          <p:cNvPr id="16" name="Picture 15" descr="image.png"/>
          <p:cNvPicPr>
            <a:picLocks noChangeAspect="1"/>
          </p:cNvPicPr>
          <p:nvPr/>
        </p:nvPicPr>
        <p:blipFill>
          <a:blip r:embed="rId9"/>
          <a:stretch>
            <a:fillRect/>
          </a:stretch>
        </p:blipFill>
        <p:spPr>
          <a:xfrm>
            <a:off x="881062" y="3184326"/>
            <a:ext cx="333375" cy="266700"/>
          </a:xfrm>
          <a:prstGeom prst="rect">
            <a:avLst/>
          </a:prstGeom>
        </p:spPr>
      </p:pic>
      <p:sp>
        <p:nvSpPr>
          <p:cNvPr id="17" name="TextBox 16"/>
          <p:cNvSpPr txBox="1"/>
          <p:nvPr/>
        </p:nvSpPr>
        <p:spPr>
          <a:xfrm>
            <a:off x="952500" y="4013001"/>
            <a:ext cx="2000250" cy="213270"/>
          </a:xfrm>
          <a:prstGeom prst="rect">
            <a:avLst/>
          </a:prstGeom>
          <a:noFill/>
        </p:spPr>
        <p:txBody>
          <a:bodyPr wrap="square" lIns="0" tIns="0" rIns="0" bIns="0" anchor="t">
            <a:spAutoFit/>
          </a:bodyPr>
          <a:lstStyle/>
          <a:p>
            <a:pPr algn="l">
              <a:lnSpc>
                <a:spcPts val="1679"/>
              </a:lnSpc>
            </a:pPr>
            <a:r>
              <a:rPr sz="1050" b="0" i="0" u="none" dirty="0">
                <a:solidFill>
                  <a:srgbClr val="475569"/>
                </a:solidFill>
                <a:latin typeface="Inter"/>
              </a:rPr>
              <a:t>Age Categories</a:t>
            </a:r>
          </a:p>
        </p:txBody>
      </p:sp>
      <p:sp>
        <p:nvSpPr>
          <p:cNvPr id="18" name="TextBox 17"/>
          <p:cNvSpPr txBox="1"/>
          <p:nvPr/>
        </p:nvSpPr>
        <p:spPr>
          <a:xfrm>
            <a:off x="952500" y="428342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Biological Sex</a:t>
            </a:r>
          </a:p>
        </p:txBody>
      </p:sp>
      <p:sp>
        <p:nvSpPr>
          <p:cNvPr id="19" name="TextBox 18"/>
          <p:cNvSpPr txBox="1"/>
          <p:nvPr/>
        </p:nvSpPr>
        <p:spPr>
          <a:xfrm>
            <a:off x="952500" y="4553842"/>
            <a:ext cx="2000250" cy="213270"/>
          </a:xfrm>
          <a:prstGeom prst="rect">
            <a:avLst/>
          </a:prstGeom>
          <a:noFill/>
        </p:spPr>
        <p:txBody>
          <a:bodyPr wrap="square" lIns="0" tIns="0" rIns="0" bIns="0" anchor="t">
            <a:spAutoFit/>
          </a:bodyPr>
          <a:lstStyle/>
          <a:p>
            <a:pPr algn="l">
              <a:lnSpc>
                <a:spcPts val="1679"/>
              </a:lnSpc>
            </a:pPr>
            <a:r>
              <a:rPr sz="1050" b="0" i="0" u="none" dirty="0">
                <a:solidFill>
                  <a:srgbClr val="475569"/>
                </a:solidFill>
                <a:latin typeface="Inter"/>
              </a:rPr>
              <a:t>Race/Ethnicity</a:t>
            </a:r>
          </a:p>
        </p:txBody>
      </p:sp>
      <p:sp>
        <p:nvSpPr>
          <p:cNvPr id="20" name="TextBox 19"/>
          <p:cNvSpPr txBox="1"/>
          <p:nvPr/>
        </p:nvSpPr>
        <p:spPr>
          <a:xfrm>
            <a:off x="952500" y="4824263"/>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Marital Status</a:t>
            </a:r>
          </a:p>
        </p:txBody>
      </p:sp>
      <p:pic>
        <p:nvPicPr>
          <p:cNvPr id="21" name="Picture 20" descr="image.png"/>
          <p:cNvPicPr>
            <a:picLocks noChangeAspect="1"/>
          </p:cNvPicPr>
          <p:nvPr/>
        </p:nvPicPr>
        <p:blipFill>
          <a:blip r:embed="rId10"/>
          <a:stretch>
            <a:fillRect/>
          </a:stretch>
        </p:blipFill>
        <p:spPr>
          <a:xfrm>
            <a:off x="3724275" y="3184326"/>
            <a:ext cx="266700" cy="266700"/>
          </a:xfrm>
          <a:prstGeom prst="rect">
            <a:avLst/>
          </a:prstGeom>
        </p:spPr>
      </p:pic>
      <p:sp>
        <p:nvSpPr>
          <p:cNvPr id="22" name="TextBox 21"/>
          <p:cNvSpPr txBox="1"/>
          <p:nvPr/>
        </p:nvSpPr>
        <p:spPr>
          <a:xfrm>
            <a:off x="3762375" y="4013001"/>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Education level</a:t>
            </a:r>
          </a:p>
        </p:txBody>
      </p:sp>
      <p:sp>
        <p:nvSpPr>
          <p:cNvPr id="23" name="TextBox 22"/>
          <p:cNvSpPr txBox="1"/>
          <p:nvPr/>
        </p:nvSpPr>
        <p:spPr>
          <a:xfrm>
            <a:off x="3762375" y="428342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Employment status</a:t>
            </a:r>
          </a:p>
        </p:txBody>
      </p:sp>
      <p:sp>
        <p:nvSpPr>
          <p:cNvPr id="24" name="TextBox 23"/>
          <p:cNvSpPr txBox="1"/>
          <p:nvPr/>
        </p:nvSpPr>
        <p:spPr>
          <a:xfrm>
            <a:off x="3762375" y="455384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Income Bracket</a:t>
            </a:r>
          </a:p>
        </p:txBody>
      </p:sp>
      <p:sp>
        <p:nvSpPr>
          <p:cNvPr id="25" name="TextBox 24"/>
          <p:cNvSpPr txBox="1"/>
          <p:nvPr/>
        </p:nvSpPr>
        <p:spPr>
          <a:xfrm>
            <a:off x="3762375" y="4824263"/>
            <a:ext cx="2000250" cy="199029"/>
          </a:xfrm>
          <a:prstGeom prst="rect">
            <a:avLst/>
          </a:prstGeom>
          <a:noFill/>
        </p:spPr>
        <p:txBody>
          <a:bodyPr wrap="square" lIns="0" tIns="0" rIns="0" bIns="0" anchor="t">
            <a:spAutoFit/>
          </a:bodyPr>
          <a:lstStyle/>
          <a:p>
            <a:pPr algn="l">
              <a:lnSpc>
                <a:spcPts val="1679"/>
              </a:lnSpc>
            </a:pPr>
            <a:r>
              <a:rPr lang="en-US" sz="1050" dirty="0">
                <a:solidFill>
                  <a:srgbClr val="475569"/>
                </a:solidFill>
                <a:latin typeface="Inter"/>
              </a:rPr>
              <a:t>Rural</a:t>
            </a:r>
            <a:r>
              <a:rPr sz="1050" b="0" i="0" u="none" dirty="0">
                <a:solidFill>
                  <a:srgbClr val="475569"/>
                </a:solidFill>
                <a:latin typeface="Inter"/>
              </a:rPr>
              <a:t>/Urban Status</a:t>
            </a:r>
          </a:p>
        </p:txBody>
      </p:sp>
      <p:pic>
        <p:nvPicPr>
          <p:cNvPr id="26" name="Picture 25" descr="image.png"/>
          <p:cNvPicPr>
            <a:picLocks noChangeAspect="1"/>
          </p:cNvPicPr>
          <p:nvPr/>
        </p:nvPicPr>
        <p:blipFill>
          <a:blip r:embed="rId11"/>
          <a:stretch>
            <a:fillRect/>
          </a:stretch>
        </p:blipFill>
        <p:spPr>
          <a:xfrm>
            <a:off x="6534150" y="3184326"/>
            <a:ext cx="266700" cy="266700"/>
          </a:xfrm>
          <a:prstGeom prst="rect">
            <a:avLst/>
          </a:prstGeom>
        </p:spPr>
      </p:pic>
      <p:sp>
        <p:nvSpPr>
          <p:cNvPr id="27" name="TextBox 26"/>
          <p:cNvSpPr txBox="1"/>
          <p:nvPr/>
        </p:nvSpPr>
        <p:spPr>
          <a:xfrm>
            <a:off x="6572250" y="4013001"/>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Body Mass Index (BMI)</a:t>
            </a:r>
          </a:p>
        </p:txBody>
      </p:sp>
      <p:sp>
        <p:nvSpPr>
          <p:cNvPr id="28" name="TextBox 27"/>
          <p:cNvSpPr txBox="1"/>
          <p:nvPr/>
        </p:nvSpPr>
        <p:spPr>
          <a:xfrm>
            <a:off x="6572250" y="428342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Physical Health Days</a:t>
            </a:r>
          </a:p>
        </p:txBody>
      </p:sp>
      <p:sp>
        <p:nvSpPr>
          <p:cNvPr id="29" name="TextBox 28"/>
          <p:cNvSpPr txBox="1"/>
          <p:nvPr/>
        </p:nvSpPr>
        <p:spPr>
          <a:xfrm>
            <a:off x="6572250" y="455384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Health Insurance</a:t>
            </a:r>
          </a:p>
        </p:txBody>
      </p:sp>
      <p:sp>
        <p:nvSpPr>
          <p:cNvPr id="30" name="TextBox 29"/>
          <p:cNvSpPr txBox="1"/>
          <p:nvPr/>
        </p:nvSpPr>
        <p:spPr>
          <a:xfrm>
            <a:off x="6572250" y="4824263"/>
            <a:ext cx="2000250" cy="199029"/>
          </a:xfrm>
          <a:prstGeom prst="rect">
            <a:avLst/>
          </a:prstGeom>
          <a:noFill/>
        </p:spPr>
        <p:txBody>
          <a:bodyPr wrap="square" lIns="0" tIns="0" rIns="0" bIns="0" anchor="t">
            <a:spAutoFit/>
          </a:bodyPr>
          <a:lstStyle/>
          <a:p>
            <a:pPr algn="l">
              <a:lnSpc>
                <a:spcPts val="1679"/>
              </a:lnSpc>
            </a:pPr>
            <a:r>
              <a:rPr sz="1050" b="0" i="0" u="none" dirty="0">
                <a:solidFill>
                  <a:srgbClr val="475569"/>
                </a:solidFill>
                <a:latin typeface="Inter"/>
              </a:rPr>
              <a:t>Personal </a:t>
            </a:r>
            <a:r>
              <a:rPr lang="en-US" sz="1050" b="0" i="0" u="none" dirty="0">
                <a:solidFill>
                  <a:srgbClr val="475569"/>
                </a:solidFill>
                <a:latin typeface="Inter"/>
              </a:rPr>
              <a:t>Health </a:t>
            </a:r>
            <a:r>
              <a:rPr sz="1050" b="0" i="0" u="none" dirty="0">
                <a:solidFill>
                  <a:srgbClr val="475569"/>
                </a:solidFill>
                <a:latin typeface="Inter"/>
              </a:rPr>
              <a:t>Provider</a:t>
            </a:r>
          </a:p>
        </p:txBody>
      </p:sp>
      <p:pic>
        <p:nvPicPr>
          <p:cNvPr id="31" name="Picture 30" descr="image.png"/>
          <p:cNvPicPr>
            <a:picLocks noChangeAspect="1"/>
          </p:cNvPicPr>
          <p:nvPr/>
        </p:nvPicPr>
        <p:blipFill>
          <a:blip r:embed="rId12"/>
          <a:stretch>
            <a:fillRect/>
          </a:stretch>
        </p:blipFill>
        <p:spPr>
          <a:xfrm>
            <a:off x="9358312" y="3184326"/>
            <a:ext cx="238125" cy="266700"/>
          </a:xfrm>
          <a:prstGeom prst="rect">
            <a:avLst/>
          </a:prstGeom>
        </p:spPr>
      </p:pic>
      <p:sp>
        <p:nvSpPr>
          <p:cNvPr id="32" name="TextBox 31"/>
          <p:cNvSpPr txBox="1"/>
          <p:nvPr/>
        </p:nvSpPr>
        <p:spPr>
          <a:xfrm>
            <a:off x="9382125" y="4013001"/>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Fruit Consumption</a:t>
            </a:r>
          </a:p>
        </p:txBody>
      </p:sp>
      <p:sp>
        <p:nvSpPr>
          <p:cNvPr id="33" name="TextBox 32"/>
          <p:cNvSpPr txBox="1"/>
          <p:nvPr/>
        </p:nvSpPr>
        <p:spPr>
          <a:xfrm>
            <a:off x="9382125" y="4283422"/>
            <a:ext cx="2000250" cy="199029"/>
          </a:xfrm>
          <a:prstGeom prst="rect">
            <a:avLst/>
          </a:prstGeom>
          <a:noFill/>
        </p:spPr>
        <p:txBody>
          <a:bodyPr wrap="square" lIns="0" tIns="0" rIns="0" bIns="0" anchor="t">
            <a:spAutoFit/>
          </a:bodyPr>
          <a:lstStyle/>
          <a:p>
            <a:pPr algn="l">
              <a:lnSpc>
                <a:spcPts val="1679"/>
              </a:lnSpc>
            </a:pPr>
            <a:r>
              <a:rPr lang="en-US" sz="1050" b="0" i="0" u="none" dirty="0">
                <a:solidFill>
                  <a:srgbClr val="475569"/>
                </a:solidFill>
                <a:latin typeface="Inter"/>
              </a:rPr>
              <a:t>Vegetable</a:t>
            </a:r>
            <a:r>
              <a:rPr sz="1050" b="0" i="0" u="none" dirty="0">
                <a:solidFill>
                  <a:srgbClr val="475569"/>
                </a:solidFill>
                <a:latin typeface="Inter"/>
              </a:rPr>
              <a:t> Intake</a:t>
            </a:r>
          </a:p>
        </p:txBody>
      </p:sp>
      <p:sp>
        <p:nvSpPr>
          <p:cNvPr id="34" name="TextBox 33"/>
          <p:cNvSpPr txBox="1"/>
          <p:nvPr/>
        </p:nvSpPr>
        <p:spPr>
          <a:xfrm>
            <a:off x="9382125" y="4553842"/>
            <a:ext cx="2000250" cy="213270"/>
          </a:xfrm>
          <a:prstGeom prst="rect">
            <a:avLst/>
          </a:prstGeom>
          <a:noFill/>
        </p:spPr>
        <p:txBody>
          <a:bodyPr wrap="square" lIns="0" tIns="0" rIns="0" bIns="0" anchor="t">
            <a:spAutoFit/>
          </a:bodyPr>
          <a:lstStyle/>
          <a:p>
            <a:pPr algn="l">
              <a:lnSpc>
                <a:spcPts val="1679"/>
              </a:lnSpc>
            </a:pPr>
            <a:r>
              <a:rPr sz="1050" b="0" i="0" u="none">
                <a:solidFill>
                  <a:srgbClr val="475569"/>
                </a:solidFill>
                <a:latin typeface="Inter"/>
              </a:rPr>
              <a:t>French Fry Intake</a:t>
            </a:r>
          </a:p>
        </p:txBody>
      </p:sp>
      <p:sp>
        <p:nvSpPr>
          <p:cNvPr id="35" name="TextBox 34"/>
          <p:cNvSpPr txBox="1"/>
          <p:nvPr/>
        </p:nvSpPr>
        <p:spPr>
          <a:xfrm>
            <a:off x="9382125" y="4824263"/>
            <a:ext cx="2000250" cy="213270"/>
          </a:xfrm>
          <a:prstGeom prst="rect">
            <a:avLst/>
          </a:prstGeom>
          <a:noFill/>
        </p:spPr>
        <p:txBody>
          <a:bodyPr wrap="square" lIns="0" tIns="0" rIns="0" bIns="0" anchor="t">
            <a:spAutoFit/>
          </a:bodyPr>
          <a:lstStyle/>
          <a:p>
            <a:pPr algn="l">
              <a:lnSpc>
                <a:spcPts val="1679"/>
              </a:lnSpc>
            </a:pPr>
            <a:r>
              <a:rPr sz="1050" b="0" i="0" u="none" dirty="0">
                <a:solidFill>
                  <a:srgbClr val="475569"/>
                </a:solidFill>
                <a:latin typeface="Inter"/>
              </a:rPr>
              <a:t>Active Exercise</a:t>
            </a:r>
          </a:p>
        </p:txBody>
      </p:sp>
      <p:sp>
        <p:nvSpPr>
          <p:cNvPr id="36" name="TextBox 35"/>
          <p:cNvSpPr txBox="1"/>
          <p:nvPr/>
        </p:nvSpPr>
        <p:spPr>
          <a:xfrm>
            <a:off x="809625" y="4013001"/>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37" name="TextBox 36"/>
          <p:cNvSpPr txBox="1"/>
          <p:nvPr/>
        </p:nvSpPr>
        <p:spPr>
          <a:xfrm>
            <a:off x="809625" y="428342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38" name="TextBox 37"/>
          <p:cNvSpPr txBox="1"/>
          <p:nvPr/>
        </p:nvSpPr>
        <p:spPr>
          <a:xfrm>
            <a:off x="809625" y="455384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39" name="TextBox 38"/>
          <p:cNvSpPr txBox="1"/>
          <p:nvPr/>
        </p:nvSpPr>
        <p:spPr>
          <a:xfrm>
            <a:off x="809625" y="4824263"/>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0" name="TextBox 39"/>
          <p:cNvSpPr txBox="1"/>
          <p:nvPr/>
        </p:nvSpPr>
        <p:spPr>
          <a:xfrm>
            <a:off x="3619500" y="4013001"/>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1" name="TextBox 40"/>
          <p:cNvSpPr txBox="1"/>
          <p:nvPr/>
        </p:nvSpPr>
        <p:spPr>
          <a:xfrm>
            <a:off x="3619500" y="428342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2" name="TextBox 41"/>
          <p:cNvSpPr txBox="1"/>
          <p:nvPr/>
        </p:nvSpPr>
        <p:spPr>
          <a:xfrm>
            <a:off x="3619500" y="455384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3" name="TextBox 42"/>
          <p:cNvSpPr txBox="1"/>
          <p:nvPr/>
        </p:nvSpPr>
        <p:spPr>
          <a:xfrm>
            <a:off x="3619500" y="4824263"/>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4" name="TextBox 43"/>
          <p:cNvSpPr txBox="1"/>
          <p:nvPr/>
        </p:nvSpPr>
        <p:spPr>
          <a:xfrm>
            <a:off x="6429375" y="4013001"/>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5" name="TextBox 44"/>
          <p:cNvSpPr txBox="1"/>
          <p:nvPr/>
        </p:nvSpPr>
        <p:spPr>
          <a:xfrm>
            <a:off x="6429375" y="428342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6" name="TextBox 45"/>
          <p:cNvSpPr txBox="1"/>
          <p:nvPr/>
        </p:nvSpPr>
        <p:spPr>
          <a:xfrm>
            <a:off x="6429375" y="455384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7" name="TextBox 46"/>
          <p:cNvSpPr txBox="1"/>
          <p:nvPr/>
        </p:nvSpPr>
        <p:spPr>
          <a:xfrm>
            <a:off x="6429375" y="4824263"/>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8" name="TextBox 47"/>
          <p:cNvSpPr txBox="1"/>
          <p:nvPr/>
        </p:nvSpPr>
        <p:spPr>
          <a:xfrm>
            <a:off x="9239250" y="4013001"/>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49" name="TextBox 48"/>
          <p:cNvSpPr txBox="1"/>
          <p:nvPr/>
        </p:nvSpPr>
        <p:spPr>
          <a:xfrm>
            <a:off x="9239250" y="428342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50" name="TextBox 49"/>
          <p:cNvSpPr txBox="1"/>
          <p:nvPr/>
        </p:nvSpPr>
        <p:spPr>
          <a:xfrm>
            <a:off x="9239250" y="4553842"/>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51" name="TextBox 50"/>
          <p:cNvSpPr txBox="1"/>
          <p:nvPr/>
        </p:nvSpPr>
        <p:spPr>
          <a:xfrm>
            <a:off x="9239250" y="4824263"/>
            <a:ext cx="66675" cy="209550"/>
          </a:xfrm>
          <a:prstGeom prst="rect">
            <a:avLst/>
          </a:prstGeom>
          <a:noFill/>
        </p:spPr>
        <p:txBody>
          <a:bodyPr wrap="square" lIns="0" tIns="0" rIns="0" bIns="0" anchor="t">
            <a:spAutoFit/>
          </a:bodyPr>
          <a:lstStyle/>
          <a:p>
            <a:pPr algn="l">
              <a:lnSpc>
                <a:spcPts val="1679"/>
              </a:lnSpc>
            </a:pPr>
            <a:r>
              <a:rPr sz="1050" b="1" i="0" u="none">
                <a:solidFill>
                  <a:srgbClr val="10B981"/>
                </a:solidFill>
                <a:latin typeface="Inter"/>
              </a:rPr>
              <a:t>•</a:t>
            </a:r>
          </a:p>
        </p:txBody>
      </p:sp>
      <p:sp>
        <p:nvSpPr>
          <p:cNvPr id="52" name="TextBox 51"/>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Data Source &amp; Classification</a:t>
            </a:r>
          </a:p>
        </p:txBody>
      </p:sp>
      <p:sp>
        <p:nvSpPr>
          <p:cNvPr id="53" name="Rectangle 52"/>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5DB7E354-D00E-A087-CA30-A0BDD1DF44F6}"/>
              </a:ext>
            </a:extLst>
          </p:cNvPr>
          <p:cNvSpPr txBox="1"/>
          <p:nvPr/>
        </p:nvSpPr>
        <p:spPr>
          <a:xfrm>
            <a:off x="594576" y="5863472"/>
            <a:ext cx="11025924" cy="338554"/>
          </a:xfrm>
          <a:prstGeom prst="rect">
            <a:avLst/>
          </a:prstGeom>
          <a:noFill/>
        </p:spPr>
        <p:txBody>
          <a:bodyPr wrap="square" rtlCol="0">
            <a:spAutoFit/>
          </a:bodyPr>
          <a:lstStyle/>
          <a:p>
            <a:pPr algn="ctr"/>
            <a:r>
              <a:rPr lang="en-US" sz="1600" b="1" dirty="0">
                <a:latin typeface="Inter"/>
              </a:rPr>
              <a:t>Target Outcome</a:t>
            </a:r>
            <a:r>
              <a:rPr lang="en-US" sz="1600" dirty="0">
                <a:latin typeface="Inter"/>
              </a:rPr>
              <a:t>: Respondent ever told by healthcare professional that they have hypertension (1=Yes, 0=No)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931318"/>
            <a:ext cx="1988790" cy="1824037"/>
          </a:xfrm>
          <a:prstGeom prst="rect">
            <a:avLst/>
          </a:prstGeom>
        </p:spPr>
      </p:pic>
      <p:pic>
        <p:nvPicPr>
          <p:cNvPr id="4" name="Picture 3" descr="image.png"/>
          <p:cNvPicPr>
            <a:picLocks noChangeAspect="1"/>
          </p:cNvPicPr>
          <p:nvPr/>
        </p:nvPicPr>
        <p:blipFill>
          <a:blip r:embed="rId4"/>
          <a:stretch>
            <a:fillRect/>
          </a:stretch>
        </p:blipFill>
        <p:spPr>
          <a:xfrm>
            <a:off x="2836515" y="2931318"/>
            <a:ext cx="1988790" cy="1824037"/>
          </a:xfrm>
          <a:prstGeom prst="rect">
            <a:avLst/>
          </a:prstGeom>
        </p:spPr>
      </p:pic>
      <p:pic>
        <p:nvPicPr>
          <p:cNvPr id="5" name="Picture 4" descr="image.png"/>
          <p:cNvPicPr>
            <a:picLocks noChangeAspect="1"/>
          </p:cNvPicPr>
          <p:nvPr/>
        </p:nvPicPr>
        <p:blipFill>
          <a:blip r:embed="rId5"/>
          <a:stretch>
            <a:fillRect/>
          </a:stretch>
        </p:blipFill>
        <p:spPr>
          <a:xfrm>
            <a:off x="5101530" y="2931318"/>
            <a:ext cx="1988790" cy="1824037"/>
          </a:xfrm>
          <a:prstGeom prst="rect">
            <a:avLst/>
          </a:prstGeom>
        </p:spPr>
      </p:pic>
      <p:pic>
        <p:nvPicPr>
          <p:cNvPr id="6" name="Picture 5" descr="image.png"/>
          <p:cNvPicPr>
            <a:picLocks noChangeAspect="1"/>
          </p:cNvPicPr>
          <p:nvPr/>
        </p:nvPicPr>
        <p:blipFill>
          <a:blip r:embed="rId6"/>
          <a:stretch>
            <a:fillRect/>
          </a:stretch>
        </p:blipFill>
        <p:spPr>
          <a:xfrm>
            <a:off x="7366545" y="2931318"/>
            <a:ext cx="1988790" cy="1824037"/>
          </a:xfrm>
          <a:prstGeom prst="rect">
            <a:avLst/>
          </a:prstGeom>
        </p:spPr>
      </p:pic>
      <p:pic>
        <p:nvPicPr>
          <p:cNvPr id="7" name="Picture 6" descr="image.png"/>
          <p:cNvPicPr>
            <a:picLocks noChangeAspect="1"/>
          </p:cNvPicPr>
          <p:nvPr/>
        </p:nvPicPr>
        <p:blipFill>
          <a:blip r:embed="rId7"/>
          <a:stretch>
            <a:fillRect/>
          </a:stretch>
        </p:blipFill>
        <p:spPr>
          <a:xfrm>
            <a:off x="9631560" y="2931318"/>
            <a:ext cx="1988790" cy="1824037"/>
          </a:xfrm>
          <a:prstGeom prst="rect">
            <a:avLst/>
          </a:prstGeom>
        </p:spPr>
      </p:pic>
      <p:pic>
        <p:nvPicPr>
          <p:cNvPr id="8" name="Picture 7" descr="image.png"/>
          <p:cNvPicPr>
            <a:picLocks noChangeAspect="1"/>
          </p:cNvPicPr>
          <p:nvPr/>
        </p:nvPicPr>
        <p:blipFill>
          <a:blip r:embed="rId8"/>
          <a:stretch>
            <a:fillRect/>
          </a:stretch>
        </p:blipFill>
        <p:spPr>
          <a:xfrm>
            <a:off x="1394370" y="3169443"/>
            <a:ext cx="342900" cy="342900"/>
          </a:xfrm>
          <a:prstGeom prst="rect">
            <a:avLst/>
          </a:prstGeom>
        </p:spPr>
      </p:pic>
      <p:pic>
        <p:nvPicPr>
          <p:cNvPr id="9" name="Picture 8" descr="image.png"/>
          <p:cNvPicPr>
            <a:picLocks noChangeAspect="1"/>
          </p:cNvPicPr>
          <p:nvPr/>
        </p:nvPicPr>
        <p:blipFill>
          <a:blip r:embed="rId9"/>
          <a:stretch>
            <a:fillRect/>
          </a:stretch>
        </p:blipFill>
        <p:spPr>
          <a:xfrm>
            <a:off x="3659385" y="3169443"/>
            <a:ext cx="342900" cy="342900"/>
          </a:xfrm>
          <a:prstGeom prst="rect">
            <a:avLst/>
          </a:prstGeom>
        </p:spPr>
      </p:pic>
      <p:pic>
        <p:nvPicPr>
          <p:cNvPr id="10" name="Picture 9" descr="image.png"/>
          <p:cNvPicPr>
            <a:picLocks noChangeAspect="1"/>
          </p:cNvPicPr>
          <p:nvPr/>
        </p:nvPicPr>
        <p:blipFill>
          <a:blip r:embed="rId10"/>
          <a:stretch>
            <a:fillRect/>
          </a:stretch>
        </p:blipFill>
        <p:spPr>
          <a:xfrm>
            <a:off x="5924401" y="3169443"/>
            <a:ext cx="342900" cy="342900"/>
          </a:xfrm>
          <a:prstGeom prst="rect">
            <a:avLst/>
          </a:prstGeom>
        </p:spPr>
      </p:pic>
      <p:pic>
        <p:nvPicPr>
          <p:cNvPr id="11" name="Picture 10" descr="image.png"/>
          <p:cNvPicPr>
            <a:picLocks noChangeAspect="1"/>
          </p:cNvPicPr>
          <p:nvPr/>
        </p:nvPicPr>
        <p:blipFill>
          <a:blip r:embed="rId11"/>
          <a:stretch>
            <a:fillRect/>
          </a:stretch>
        </p:blipFill>
        <p:spPr>
          <a:xfrm>
            <a:off x="8189416" y="3169443"/>
            <a:ext cx="342900" cy="342900"/>
          </a:xfrm>
          <a:prstGeom prst="rect">
            <a:avLst/>
          </a:prstGeom>
        </p:spPr>
      </p:pic>
      <p:pic>
        <p:nvPicPr>
          <p:cNvPr id="12" name="Picture 11" descr="image.png"/>
          <p:cNvPicPr>
            <a:picLocks noChangeAspect="1"/>
          </p:cNvPicPr>
          <p:nvPr/>
        </p:nvPicPr>
        <p:blipFill>
          <a:blip r:embed="rId12"/>
          <a:stretch>
            <a:fillRect/>
          </a:stretch>
        </p:blipFill>
        <p:spPr>
          <a:xfrm>
            <a:off x="10454431" y="3169443"/>
            <a:ext cx="342900" cy="342900"/>
          </a:xfrm>
          <a:prstGeom prst="rect">
            <a:avLst/>
          </a:prstGeom>
        </p:spPr>
      </p:pic>
      <p:sp>
        <p:nvSpPr>
          <p:cNvPr id="13" name="TextBox 12"/>
          <p:cNvSpPr txBox="1"/>
          <p:nvPr/>
        </p:nvSpPr>
        <p:spPr>
          <a:xfrm>
            <a:off x="731806" y="3655218"/>
            <a:ext cx="1668177" cy="209550"/>
          </a:xfrm>
          <a:prstGeom prst="rect">
            <a:avLst/>
          </a:prstGeom>
          <a:noFill/>
        </p:spPr>
        <p:txBody>
          <a:bodyPr wrap="square" lIns="0" tIns="0" rIns="0" bIns="0" anchor="t">
            <a:spAutoFit/>
          </a:bodyPr>
          <a:lstStyle/>
          <a:p>
            <a:pPr algn="ctr"/>
            <a:r>
              <a:rPr sz="1350" b="0" i="0" u="none">
                <a:solidFill>
                  <a:srgbClr val="0B252E"/>
                </a:solidFill>
                <a:latin typeface="Montserrat SemiBold"/>
              </a:rPr>
              <a:t>Ingestion</a:t>
            </a:r>
          </a:p>
        </p:txBody>
      </p:sp>
      <p:sp>
        <p:nvSpPr>
          <p:cNvPr id="14" name="TextBox 13"/>
          <p:cNvSpPr txBox="1"/>
          <p:nvPr/>
        </p:nvSpPr>
        <p:spPr>
          <a:xfrm>
            <a:off x="771525" y="3960018"/>
            <a:ext cx="1588740" cy="557212"/>
          </a:xfrm>
          <a:prstGeom prst="rect">
            <a:avLst/>
          </a:prstGeom>
          <a:noFill/>
        </p:spPr>
        <p:txBody>
          <a:bodyPr wrap="square" lIns="0" tIns="0" rIns="0" bIns="0" anchor="t">
            <a:spAutoFit/>
          </a:bodyPr>
          <a:lstStyle/>
          <a:p>
            <a:pPr algn="ctr">
              <a:lnSpc>
                <a:spcPts val="1462"/>
              </a:lnSpc>
            </a:pPr>
            <a:r>
              <a:rPr sz="975" b="0" i="0" u="none">
                <a:solidFill>
                  <a:srgbClr val="64748B"/>
                </a:solidFill>
                <a:latin typeface="Inter"/>
              </a:rPr>
              <a:t>Targeted variable extraction from raw CDC survey database.</a:t>
            </a:r>
          </a:p>
        </p:txBody>
      </p:sp>
      <p:sp>
        <p:nvSpPr>
          <p:cNvPr id="15" name="TextBox 14"/>
          <p:cNvSpPr txBox="1"/>
          <p:nvPr/>
        </p:nvSpPr>
        <p:spPr>
          <a:xfrm>
            <a:off x="2996821" y="3655218"/>
            <a:ext cx="1668177" cy="209550"/>
          </a:xfrm>
          <a:prstGeom prst="rect">
            <a:avLst/>
          </a:prstGeom>
          <a:noFill/>
        </p:spPr>
        <p:txBody>
          <a:bodyPr wrap="square" lIns="0" tIns="0" rIns="0" bIns="0" anchor="t">
            <a:spAutoFit/>
          </a:bodyPr>
          <a:lstStyle/>
          <a:p>
            <a:pPr algn="ctr"/>
            <a:r>
              <a:rPr sz="1350" b="0" i="0" u="none">
                <a:solidFill>
                  <a:srgbClr val="0B252E"/>
                </a:solidFill>
                <a:latin typeface="Montserrat SemiBold"/>
              </a:rPr>
              <a:t>Cleaning</a:t>
            </a:r>
          </a:p>
        </p:txBody>
      </p:sp>
      <p:sp>
        <p:nvSpPr>
          <p:cNvPr id="16" name="TextBox 15"/>
          <p:cNvSpPr txBox="1"/>
          <p:nvPr/>
        </p:nvSpPr>
        <p:spPr>
          <a:xfrm>
            <a:off x="3036540" y="3960018"/>
            <a:ext cx="1588740" cy="557212"/>
          </a:xfrm>
          <a:prstGeom prst="rect">
            <a:avLst/>
          </a:prstGeom>
          <a:noFill/>
        </p:spPr>
        <p:txBody>
          <a:bodyPr wrap="square" lIns="0" tIns="0" rIns="0" bIns="0" anchor="t">
            <a:spAutoFit/>
          </a:bodyPr>
          <a:lstStyle/>
          <a:p>
            <a:pPr algn="ctr">
              <a:lnSpc>
                <a:spcPts val="1462"/>
              </a:lnSpc>
            </a:pPr>
            <a:r>
              <a:rPr sz="975" b="0" i="0" u="none">
                <a:solidFill>
                  <a:srgbClr val="64748B"/>
                </a:solidFill>
                <a:latin typeface="Inter"/>
              </a:rPr>
              <a:t>Removing physiological outliers and imputing missing data.</a:t>
            </a:r>
          </a:p>
        </p:txBody>
      </p:sp>
      <p:sp>
        <p:nvSpPr>
          <p:cNvPr id="17" name="TextBox 16"/>
          <p:cNvSpPr txBox="1"/>
          <p:nvPr/>
        </p:nvSpPr>
        <p:spPr>
          <a:xfrm>
            <a:off x="5261836" y="3655218"/>
            <a:ext cx="1668177" cy="209550"/>
          </a:xfrm>
          <a:prstGeom prst="rect">
            <a:avLst/>
          </a:prstGeom>
          <a:noFill/>
        </p:spPr>
        <p:txBody>
          <a:bodyPr wrap="square" lIns="0" tIns="0" rIns="0" bIns="0" anchor="t">
            <a:spAutoFit/>
          </a:bodyPr>
          <a:lstStyle/>
          <a:p>
            <a:pPr algn="ctr"/>
            <a:r>
              <a:rPr sz="1350" b="0" i="0" u="none">
                <a:solidFill>
                  <a:srgbClr val="0B252E"/>
                </a:solidFill>
                <a:latin typeface="Montserrat SemiBold"/>
              </a:rPr>
              <a:t>EDA</a:t>
            </a:r>
          </a:p>
        </p:txBody>
      </p:sp>
      <p:sp>
        <p:nvSpPr>
          <p:cNvPr id="18" name="TextBox 17"/>
          <p:cNvSpPr txBox="1"/>
          <p:nvPr/>
        </p:nvSpPr>
        <p:spPr>
          <a:xfrm>
            <a:off x="5301555" y="3960018"/>
            <a:ext cx="1588740" cy="557212"/>
          </a:xfrm>
          <a:prstGeom prst="rect">
            <a:avLst/>
          </a:prstGeom>
          <a:noFill/>
        </p:spPr>
        <p:txBody>
          <a:bodyPr wrap="square" lIns="0" tIns="0" rIns="0" bIns="0" anchor="t">
            <a:spAutoFit/>
          </a:bodyPr>
          <a:lstStyle/>
          <a:p>
            <a:pPr algn="ctr">
              <a:lnSpc>
                <a:spcPts val="1462"/>
              </a:lnSpc>
            </a:pPr>
            <a:r>
              <a:rPr sz="975" b="0" i="0" u="none">
                <a:solidFill>
                  <a:srgbClr val="64748B"/>
                </a:solidFill>
                <a:latin typeface="Inter"/>
              </a:rPr>
              <a:t>Uncovering trends in age, body mass, and dietary risk factors.</a:t>
            </a:r>
          </a:p>
        </p:txBody>
      </p:sp>
      <p:sp>
        <p:nvSpPr>
          <p:cNvPr id="19" name="TextBox 18"/>
          <p:cNvSpPr txBox="1"/>
          <p:nvPr/>
        </p:nvSpPr>
        <p:spPr>
          <a:xfrm>
            <a:off x="7526852" y="3655218"/>
            <a:ext cx="1668177" cy="209550"/>
          </a:xfrm>
          <a:prstGeom prst="rect">
            <a:avLst/>
          </a:prstGeom>
          <a:noFill/>
        </p:spPr>
        <p:txBody>
          <a:bodyPr wrap="square" lIns="0" tIns="0" rIns="0" bIns="0" anchor="t">
            <a:spAutoFit/>
          </a:bodyPr>
          <a:lstStyle/>
          <a:p>
            <a:pPr algn="ctr"/>
            <a:r>
              <a:rPr sz="1350" b="0" i="0" u="none">
                <a:solidFill>
                  <a:srgbClr val="0B252E"/>
                </a:solidFill>
                <a:latin typeface="Montserrat SemiBold"/>
              </a:rPr>
              <a:t>Processing</a:t>
            </a:r>
          </a:p>
        </p:txBody>
      </p:sp>
      <p:sp>
        <p:nvSpPr>
          <p:cNvPr id="20" name="TextBox 19"/>
          <p:cNvSpPr txBox="1"/>
          <p:nvPr/>
        </p:nvSpPr>
        <p:spPr>
          <a:xfrm>
            <a:off x="7566570" y="3960018"/>
            <a:ext cx="1588740" cy="562013"/>
          </a:xfrm>
          <a:prstGeom prst="rect">
            <a:avLst/>
          </a:prstGeom>
          <a:noFill/>
        </p:spPr>
        <p:txBody>
          <a:bodyPr wrap="square" lIns="0" tIns="0" rIns="0" bIns="0" anchor="t">
            <a:spAutoFit/>
          </a:bodyPr>
          <a:lstStyle/>
          <a:p>
            <a:pPr algn="ctr">
              <a:lnSpc>
                <a:spcPts val="1462"/>
              </a:lnSpc>
            </a:pPr>
            <a:r>
              <a:rPr sz="975" b="0" i="0" u="none" dirty="0">
                <a:solidFill>
                  <a:srgbClr val="64748B"/>
                </a:solidFill>
                <a:latin typeface="Inter"/>
              </a:rPr>
              <a:t>Feature </a:t>
            </a:r>
            <a:r>
              <a:rPr lang="en-US" sz="975" b="0" i="0" u="none" dirty="0">
                <a:solidFill>
                  <a:srgbClr val="64748B"/>
                </a:solidFill>
                <a:latin typeface="Inter"/>
              </a:rPr>
              <a:t>engineering</a:t>
            </a:r>
            <a:r>
              <a:rPr sz="975" b="0" i="0" u="none" dirty="0">
                <a:solidFill>
                  <a:srgbClr val="64748B"/>
                </a:solidFill>
                <a:latin typeface="Inter"/>
              </a:rPr>
              <a:t>, encoding, and a stratified 80/20 train-test split.</a:t>
            </a:r>
          </a:p>
        </p:txBody>
      </p:sp>
      <p:sp>
        <p:nvSpPr>
          <p:cNvPr id="21" name="TextBox 20"/>
          <p:cNvSpPr txBox="1"/>
          <p:nvPr/>
        </p:nvSpPr>
        <p:spPr>
          <a:xfrm>
            <a:off x="9791867" y="3655218"/>
            <a:ext cx="1668177" cy="209550"/>
          </a:xfrm>
          <a:prstGeom prst="rect">
            <a:avLst/>
          </a:prstGeom>
          <a:noFill/>
        </p:spPr>
        <p:txBody>
          <a:bodyPr wrap="square" lIns="0" tIns="0" rIns="0" bIns="0" anchor="t">
            <a:spAutoFit/>
          </a:bodyPr>
          <a:lstStyle/>
          <a:p>
            <a:pPr algn="ctr"/>
            <a:r>
              <a:rPr sz="1350" b="0" i="0" u="none">
                <a:solidFill>
                  <a:srgbClr val="0B252E"/>
                </a:solidFill>
                <a:latin typeface="Montserrat SemiBold"/>
              </a:rPr>
              <a:t>ML Tuning</a:t>
            </a:r>
          </a:p>
        </p:txBody>
      </p:sp>
      <p:sp>
        <p:nvSpPr>
          <p:cNvPr id="22" name="TextBox 21"/>
          <p:cNvSpPr txBox="1"/>
          <p:nvPr/>
        </p:nvSpPr>
        <p:spPr>
          <a:xfrm>
            <a:off x="9831585" y="3960018"/>
            <a:ext cx="1588740" cy="557212"/>
          </a:xfrm>
          <a:prstGeom prst="rect">
            <a:avLst/>
          </a:prstGeom>
          <a:noFill/>
        </p:spPr>
        <p:txBody>
          <a:bodyPr wrap="square" lIns="0" tIns="0" rIns="0" bIns="0" anchor="t">
            <a:spAutoFit/>
          </a:bodyPr>
          <a:lstStyle/>
          <a:p>
            <a:pPr algn="ctr">
              <a:lnSpc>
                <a:spcPts val="1462"/>
              </a:lnSpc>
            </a:pPr>
            <a:r>
              <a:rPr sz="975" b="0" i="0" u="none">
                <a:solidFill>
                  <a:srgbClr val="64748B"/>
                </a:solidFill>
                <a:latin typeface="Inter"/>
              </a:rPr>
              <a:t>Model development, validation, and hyperparameter search.</a:t>
            </a:r>
          </a:p>
        </p:txBody>
      </p:sp>
      <p:pic>
        <p:nvPicPr>
          <p:cNvPr id="23" name="Picture 22" descr="image.png"/>
          <p:cNvPicPr>
            <a:picLocks noChangeAspect="1"/>
          </p:cNvPicPr>
          <p:nvPr/>
        </p:nvPicPr>
        <p:blipFill>
          <a:blip r:embed="rId13"/>
          <a:stretch>
            <a:fillRect/>
          </a:stretch>
        </p:blipFill>
        <p:spPr>
          <a:xfrm>
            <a:off x="2569815" y="3340893"/>
            <a:ext cx="123825" cy="190500"/>
          </a:xfrm>
          <a:prstGeom prst="rect">
            <a:avLst/>
          </a:prstGeom>
        </p:spPr>
      </p:pic>
      <p:pic>
        <p:nvPicPr>
          <p:cNvPr id="24" name="Picture 23" descr="image.png"/>
          <p:cNvPicPr>
            <a:picLocks noChangeAspect="1"/>
          </p:cNvPicPr>
          <p:nvPr/>
        </p:nvPicPr>
        <p:blipFill>
          <a:blip r:embed="rId13"/>
          <a:stretch>
            <a:fillRect/>
          </a:stretch>
        </p:blipFill>
        <p:spPr>
          <a:xfrm>
            <a:off x="4834830" y="3340893"/>
            <a:ext cx="123825" cy="190500"/>
          </a:xfrm>
          <a:prstGeom prst="rect">
            <a:avLst/>
          </a:prstGeom>
        </p:spPr>
      </p:pic>
      <p:pic>
        <p:nvPicPr>
          <p:cNvPr id="25" name="Picture 24" descr="image.png"/>
          <p:cNvPicPr>
            <a:picLocks noChangeAspect="1"/>
          </p:cNvPicPr>
          <p:nvPr/>
        </p:nvPicPr>
        <p:blipFill>
          <a:blip r:embed="rId14"/>
          <a:stretch>
            <a:fillRect/>
          </a:stretch>
        </p:blipFill>
        <p:spPr>
          <a:xfrm>
            <a:off x="7099845" y="3340893"/>
            <a:ext cx="123825" cy="190500"/>
          </a:xfrm>
          <a:prstGeom prst="rect">
            <a:avLst/>
          </a:prstGeom>
        </p:spPr>
      </p:pic>
      <p:pic>
        <p:nvPicPr>
          <p:cNvPr id="26" name="Picture 25" descr="image.png"/>
          <p:cNvPicPr>
            <a:picLocks noChangeAspect="1"/>
          </p:cNvPicPr>
          <p:nvPr/>
        </p:nvPicPr>
        <p:blipFill>
          <a:blip r:embed="rId14"/>
          <a:stretch>
            <a:fillRect/>
          </a:stretch>
        </p:blipFill>
        <p:spPr>
          <a:xfrm>
            <a:off x="9364860" y="3340893"/>
            <a:ext cx="123825" cy="190500"/>
          </a:xfrm>
          <a:prstGeom prst="rect">
            <a:avLst/>
          </a:prstGeom>
        </p:spPr>
      </p:pic>
      <p:sp>
        <p:nvSpPr>
          <p:cNvPr id="27" name="TextBox 26"/>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Analytical Workflow</a:t>
            </a:r>
          </a:p>
        </p:txBody>
      </p:sp>
      <p:sp>
        <p:nvSpPr>
          <p:cNvPr id="28" name="Rectangle 27"/>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080468"/>
            <a:ext cx="5334000" cy="3335238"/>
          </a:xfrm>
          <a:prstGeom prst="rect">
            <a:avLst/>
          </a:prstGeom>
        </p:spPr>
      </p:pic>
      <p:pic>
        <p:nvPicPr>
          <p:cNvPr id="4" name="Picture 3" descr="image.png"/>
          <p:cNvPicPr>
            <a:picLocks noChangeAspect="1"/>
          </p:cNvPicPr>
          <p:nvPr/>
        </p:nvPicPr>
        <p:blipFill>
          <a:blip r:embed="rId4"/>
          <a:stretch>
            <a:fillRect/>
          </a:stretch>
        </p:blipFill>
        <p:spPr>
          <a:xfrm>
            <a:off x="6286500" y="2080468"/>
            <a:ext cx="5334000" cy="3335238"/>
          </a:xfrm>
          <a:prstGeom prst="rect">
            <a:avLst/>
          </a:prstGeom>
        </p:spPr>
      </p:pic>
      <p:sp>
        <p:nvSpPr>
          <p:cNvPr id="5" name="TextBox 4"/>
          <p:cNvSpPr txBox="1"/>
          <p:nvPr/>
        </p:nvSpPr>
        <p:spPr>
          <a:xfrm>
            <a:off x="914400" y="2423368"/>
            <a:ext cx="4880610" cy="276225"/>
          </a:xfrm>
          <a:prstGeom prst="rect">
            <a:avLst/>
          </a:prstGeom>
          <a:noFill/>
        </p:spPr>
        <p:txBody>
          <a:bodyPr wrap="square" lIns="0" tIns="0" rIns="0" bIns="0" anchor="t">
            <a:spAutoFit/>
          </a:bodyPr>
          <a:lstStyle/>
          <a:p>
            <a:pPr algn="l"/>
            <a:r>
              <a:rPr sz="1650" b="0" i="0" u="none">
                <a:solidFill>
                  <a:srgbClr val="0B252E"/>
                </a:solidFill>
                <a:latin typeface="Montserrat SemiBold"/>
              </a:rPr>
              <a:t>Outlier Filtering</a:t>
            </a:r>
          </a:p>
        </p:txBody>
      </p:sp>
      <p:sp>
        <p:nvSpPr>
          <p:cNvPr id="6" name="Rectangle 5"/>
          <p:cNvSpPr/>
          <p:nvPr/>
        </p:nvSpPr>
        <p:spPr>
          <a:xfrm>
            <a:off x="914400" y="282341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32968"/>
            <a:ext cx="4648200" cy="731341"/>
          </a:xfrm>
          <a:prstGeom prst="rect">
            <a:avLst/>
          </a:prstGeom>
          <a:noFill/>
        </p:spPr>
        <p:txBody>
          <a:bodyPr wrap="square" lIns="0" tIns="0" rIns="0" bIns="0" anchor="t">
            <a:spAutoFit/>
          </a:bodyPr>
          <a:lstStyle/>
          <a:p>
            <a:pPr algn="l">
              <a:lnSpc>
                <a:spcPts val="1920"/>
              </a:lnSpc>
            </a:pPr>
            <a:r>
              <a:rPr sz="1200" b="0" i="0" u="none" dirty="0">
                <a:latin typeface="Inter"/>
              </a:rPr>
              <a:t>To prevent model skewing, we </a:t>
            </a:r>
            <a:r>
              <a:rPr lang="en-US" sz="1200" b="0" i="0" u="none" dirty="0">
                <a:latin typeface="Inter"/>
              </a:rPr>
              <a:t>replaced</a:t>
            </a:r>
            <a:r>
              <a:rPr sz="1200" b="0" i="0" u="none" dirty="0">
                <a:latin typeface="Inter"/>
              </a:rPr>
              <a:t> physiologically impossible</a:t>
            </a:r>
            <a:r>
              <a:rPr lang="en-US" sz="1200" b="0" i="0" u="none" dirty="0">
                <a:latin typeface="Inter"/>
              </a:rPr>
              <a:t> BMI</a:t>
            </a:r>
            <a:r>
              <a:rPr sz="1200" b="0" i="0" u="none" dirty="0">
                <a:latin typeface="Inter"/>
              </a:rPr>
              <a:t> values</a:t>
            </a:r>
            <a:r>
              <a:rPr lang="en-US" sz="1200" b="0" i="0" u="none" dirty="0">
                <a:latin typeface="Inter"/>
              </a:rPr>
              <a:t> as </a:t>
            </a:r>
            <a:r>
              <a:rPr lang="en-US" sz="1200" dirty="0">
                <a:latin typeface="Inter"/>
              </a:rPr>
              <a:t>missing</a:t>
            </a:r>
            <a:r>
              <a:rPr sz="1200" b="0" i="0" u="none" dirty="0">
                <a:latin typeface="Inter"/>
              </a:rPr>
              <a:t> and placed strict caps on highly inflated self-reported dietary consumption metrics:</a:t>
            </a:r>
          </a:p>
        </p:txBody>
      </p:sp>
      <p:sp>
        <p:nvSpPr>
          <p:cNvPr id="8" name="TextBox 7"/>
          <p:cNvSpPr txBox="1"/>
          <p:nvPr/>
        </p:nvSpPr>
        <p:spPr>
          <a:xfrm>
            <a:off x="914400" y="3907184"/>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Capped Upper Limits:</a:t>
            </a:r>
            <a:r>
              <a:rPr sz="1200" b="0" i="0" u="none" dirty="0">
                <a:latin typeface="Inter"/>
              </a:rPr>
              <a:t> Fruit consumption capped at 10 servings/day, vegetables at 15 servings/day, and French fries at 3 servings/day.</a:t>
            </a:r>
          </a:p>
        </p:txBody>
      </p:sp>
      <p:sp>
        <p:nvSpPr>
          <p:cNvPr id="9" name="TextBox 8"/>
          <p:cNvSpPr txBox="1"/>
          <p:nvPr/>
        </p:nvSpPr>
        <p:spPr>
          <a:xfrm>
            <a:off x="6629400" y="2423368"/>
            <a:ext cx="4880610" cy="276225"/>
          </a:xfrm>
          <a:prstGeom prst="rect">
            <a:avLst/>
          </a:prstGeom>
          <a:noFill/>
        </p:spPr>
        <p:txBody>
          <a:bodyPr wrap="square" lIns="0" tIns="0" rIns="0" bIns="0" anchor="t">
            <a:spAutoFit/>
          </a:bodyPr>
          <a:lstStyle/>
          <a:p>
            <a:pPr algn="l"/>
            <a:r>
              <a:rPr sz="1650" b="0" i="0" u="none">
                <a:solidFill>
                  <a:srgbClr val="0B252E"/>
                </a:solidFill>
                <a:latin typeface="Montserrat SemiBold"/>
              </a:rPr>
              <a:t>Missing Data Imputation</a:t>
            </a:r>
          </a:p>
        </p:txBody>
      </p:sp>
      <p:sp>
        <p:nvSpPr>
          <p:cNvPr id="10" name="Rectangle 9"/>
          <p:cNvSpPr/>
          <p:nvPr/>
        </p:nvSpPr>
        <p:spPr>
          <a:xfrm>
            <a:off x="6629400" y="282341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3032968"/>
            <a:ext cx="4648200" cy="223394"/>
          </a:xfrm>
          <a:prstGeom prst="rect">
            <a:avLst/>
          </a:prstGeom>
          <a:noFill/>
        </p:spPr>
        <p:txBody>
          <a:bodyPr wrap="square" lIns="0" tIns="0" rIns="0" bIns="0" anchor="t">
            <a:spAutoFit/>
          </a:bodyPr>
          <a:lstStyle/>
          <a:p>
            <a:pPr algn="l">
              <a:lnSpc>
                <a:spcPts val="1920"/>
              </a:lnSpc>
            </a:pPr>
            <a:r>
              <a:rPr sz="1200" b="0" i="0" u="none" dirty="0">
                <a:latin typeface="Inter"/>
              </a:rPr>
              <a:t>Applied customized rules to handle non-random reporting missingness:</a:t>
            </a:r>
          </a:p>
        </p:txBody>
      </p:sp>
      <p:sp>
        <p:nvSpPr>
          <p:cNvPr id="12" name="TextBox 11"/>
          <p:cNvSpPr txBox="1"/>
          <p:nvPr/>
        </p:nvSpPr>
        <p:spPr>
          <a:xfrm>
            <a:off x="6629400" y="3663404"/>
            <a:ext cx="4648200" cy="223394"/>
          </a:xfrm>
          <a:prstGeom prst="rect">
            <a:avLst/>
          </a:prstGeom>
          <a:noFill/>
        </p:spPr>
        <p:txBody>
          <a:bodyPr wrap="square" lIns="0" tIns="0" rIns="0" bIns="0" anchor="t">
            <a:spAutoFit/>
          </a:bodyPr>
          <a:lstStyle/>
          <a:p>
            <a:pPr algn="l">
              <a:lnSpc>
                <a:spcPts val="1920"/>
              </a:lnSpc>
            </a:pPr>
            <a:r>
              <a:rPr sz="1200" b="1" i="0" u="none" dirty="0">
                <a:latin typeface="Inter"/>
              </a:rPr>
              <a:t>&lt;2% Missing:</a:t>
            </a:r>
            <a:r>
              <a:rPr sz="1200" b="0" i="0" u="none" dirty="0">
                <a:latin typeface="Inter"/>
              </a:rPr>
              <a:t> Direct Mode imputation.</a:t>
            </a:r>
          </a:p>
        </p:txBody>
      </p:sp>
      <p:sp>
        <p:nvSpPr>
          <p:cNvPr id="13" name="TextBox 12"/>
          <p:cNvSpPr txBox="1"/>
          <p:nvPr/>
        </p:nvSpPr>
        <p:spPr>
          <a:xfrm>
            <a:off x="6629400" y="4002434"/>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2% - 20% Missing:</a:t>
            </a:r>
            <a:r>
              <a:rPr sz="1200" b="0" i="0" u="none" dirty="0">
                <a:latin typeface="Inter"/>
              </a:rPr>
              <a:t> Mode/Median replacement paired with dedicated missing indicator variables.</a:t>
            </a:r>
          </a:p>
        </p:txBody>
      </p:sp>
      <p:sp>
        <p:nvSpPr>
          <p:cNvPr id="14" name="TextBox 13"/>
          <p:cNvSpPr txBox="1"/>
          <p:nvPr/>
        </p:nvSpPr>
        <p:spPr>
          <a:xfrm>
            <a:off x="6629400" y="4585245"/>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&gt;20% (Income):</a:t>
            </a:r>
            <a:r>
              <a:rPr sz="1200" b="0" i="0" u="none" dirty="0">
                <a:latin typeface="Inter"/>
              </a:rPr>
              <a:t> Kept 'Unknown Income' as an explicit structural class to preserve social determinants data.</a:t>
            </a:r>
          </a:p>
        </p:txBody>
      </p:sp>
      <p:sp>
        <p:nvSpPr>
          <p:cNvPr id="15" name="TextBox 14"/>
          <p:cNvSpPr txBox="1"/>
          <p:nvPr/>
        </p:nvSpPr>
        <p:spPr>
          <a:xfrm>
            <a:off x="714375" y="571500"/>
            <a:ext cx="11451431" cy="400050"/>
          </a:xfrm>
          <a:prstGeom prst="rect">
            <a:avLst/>
          </a:prstGeom>
          <a:noFill/>
        </p:spPr>
        <p:txBody>
          <a:bodyPr wrap="square" lIns="0" tIns="0" rIns="0" bIns="0" anchor="t">
            <a:spAutoFit/>
          </a:bodyPr>
          <a:lstStyle/>
          <a:p>
            <a:pPr algn="l"/>
            <a:r>
              <a:rPr sz="2550" b="1" i="0" u="none" dirty="0">
                <a:solidFill>
                  <a:srgbClr val="0B252E"/>
                </a:solidFill>
                <a:latin typeface="Montserrat"/>
              </a:rPr>
              <a:t>Data Cleaning &amp; </a:t>
            </a:r>
            <a:r>
              <a:rPr lang="en-US" sz="2550" b="1" dirty="0">
                <a:solidFill>
                  <a:srgbClr val="0B252E"/>
                </a:solidFill>
                <a:latin typeface="Montserrat"/>
              </a:rPr>
              <a:t>Imputation</a:t>
            </a:r>
            <a:endParaRPr sz="2550" b="1" i="0" u="none" dirty="0">
              <a:solidFill>
                <a:srgbClr val="0B252E"/>
              </a:solidFill>
              <a:latin typeface="Montserrat"/>
            </a:endParaRPr>
          </a:p>
        </p:txBody>
      </p:sp>
      <p:sp>
        <p:nvSpPr>
          <p:cNvPr id="16" name="Rectangle 15"/>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BF76E0CB-610B-5AB7-145F-40E82CD3E97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3D5CF8C2-8C85-1B7F-6069-FD88F4A70CE9}"/>
              </a:ext>
            </a:extLst>
          </p:cNvPr>
          <p:cNvPicPr>
            <a:picLocks noChangeAspect="1"/>
          </p:cNvPicPr>
          <p:nvPr/>
        </p:nvPicPr>
        <p:blipFill>
          <a:blip r:embed="rId3"/>
          <a:stretch>
            <a:fillRect/>
          </a:stretch>
        </p:blipFill>
        <p:spPr>
          <a:xfrm>
            <a:off x="-26194" y="0"/>
            <a:ext cx="12192000" cy="6858000"/>
          </a:xfrm>
          <a:prstGeom prst="rect">
            <a:avLst/>
          </a:prstGeom>
        </p:spPr>
      </p:pic>
      <p:pic>
        <p:nvPicPr>
          <p:cNvPr id="3" name="Picture 2" descr="image.png">
            <a:extLst>
              <a:ext uri="{FF2B5EF4-FFF2-40B4-BE49-F238E27FC236}">
                <a16:creationId xmlns:a16="http://schemas.microsoft.com/office/drawing/2014/main" id="{16C8046E-D10A-63A9-1C47-58FDDA82619C}"/>
              </a:ext>
            </a:extLst>
          </p:cNvPr>
          <p:cNvPicPr>
            <a:picLocks noChangeAspect="1"/>
          </p:cNvPicPr>
          <p:nvPr/>
        </p:nvPicPr>
        <p:blipFill>
          <a:blip r:embed="rId4"/>
          <a:stretch>
            <a:fillRect/>
          </a:stretch>
        </p:blipFill>
        <p:spPr>
          <a:xfrm>
            <a:off x="571500" y="2297608"/>
            <a:ext cx="5334000" cy="2900957"/>
          </a:xfrm>
          <a:prstGeom prst="rect">
            <a:avLst/>
          </a:prstGeom>
        </p:spPr>
      </p:pic>
      <p:pic>
        <p:nvPicPr>
          <p:cNvPr id="4" name="Picture 3" descr="image.png">
            <a:extLst>
              <a:ext uri="{FF2B5EF4-FFF2-40B4-BE49-F238E27FC236}">
                <a16:creationId xmlns:a16="http://schemas.microsoft.com/office/drawing/2014/main" id="{12670F82-477C-9C31-3304-6FE8AA94D38A}"/>
              </a:ext>
            </a:extLst>
          </p:cNvPr>
          <p:cNvPicPr>
            <a:picLocks noChangeAspect="1"/>
          </p:cNvPicPr>
          <p:nvPr/>
        </p:nvPicPr>
        <p:blipFill>
          <a:blip r:embed="rId5"/>
          <a:stretch>
            <a:fillRect/>
          </a:stretch>
        </p:blipFill>
        <p:spPr>
          <a:xfrm>
            <a:off x="6286500" y="2297608"/>
            <a:ext cx="5334000" cy="2900957"/>
          </a:xfrm>
          <a:prstGeom prst="rect">
            <a:avLst/>
          </a:prstGeom>
        </p:spPr>
      </p:pic>
      <p:sp>
        <p:nvSpPr>
          <p:cNvPr id="5" name="TextBox 4">
            <a:extLst>
              <a:ext uri="{FF2B5EF4-FFF2-40B4-BE49-F238E27FC236}">
                <a16:creationId xmlns:a16="http://schemas.microsoft.com/office/drawing/2014/main" id="{E57B58DB-95D2-EFDE-9CFB-6208965D615F}"/>
              </a:ext>
            </a:extLst>
          </p:cNvPr>
          <p:cNvSpPr txBox="1"/>
          <p:nvPr/>
        </p:nvSpPr>
        <p:spPr>
          <a:xfrm>
            <a:off x="914400" y="2640508"/>
            <a:ext cx="4880610" cy="253916"/>
          </a:xfrm>
          <a:prstGeom prst="rect">
            <a:avLst/>
          </a:prstGeom>
          <a:noFill/>
        </p:spPr>
        <p:txBody>
          <a:bodyPr wrap="square" lIns="0" tIns="0" rIns="0" bIns="0" anchor="t">
            <a:spAutoFit/>
          </a:bodyPr>
          <a:lstStyle/>
          <a:p>
            <a:pPr algn="l"/>
            <a:r>
              <a:rPr lang="en-US" sz="1650" dirty="0">
                <a:latin typeface="Montserrat SemiBold"/>
              </a:rPr>
              <a:t>Sample Profile</a:t>
            </a:r>
            <a:endParaRPr sz="1650" b="0" i="0" u="none" dirty="0">
              <a:latin typeface="Montserrat SemiBold"/>
            </a:endParaRPr>
          </a:p>
        </p:txBody>
      </p:sp>
      <p:sp>
        <p:nvSpPr>
          <p:cNvPr id="6" name="Rectangle 5">
            <a:extLst>
              <a:ext uri="{FF2B5EF4-FFF2-40B4-BE49-F238E27FC236}">
                <a16:creationId xmlns:a16="http://schemas.microsoft.com/office/drawing/2014/main" id="{9B09AB6E-429C-4835-405E-CC333CC6B53F}"/>
              </a:ext>
            </a:extLst>
          </p:cNvPr>
          <p:cNvSpPr/>
          <p:nvPr/>
        </p:nvSpPr>
        <p:spPr>
          <a:xfrm>
            <a:off x="914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F1CA456-36E8-C32C-EEDE-3C5E3A933CFA}"/>
              </a:ext>
            </a:extLst>
          </p:cNvPr>
          <p:cNvSpPr txBox="1"/>
          <p:nvPr/>
        </p:nvSpPr>
        <p:spPr>
          <a:xfrm>
            <a:off x="6629400" y="2640508"/>
            <a:ext cx="4880610" cy="253916"/>
          </a:xfrm>
          <a:prstGeom prst="rect">
            <a:avLst/>
          </a:prstGeom>
          <a:noFill/>
        </p:spPr>
        <p:txBody>
          <a:bodyPr wrap="square" lIns="0" tIns="0" rIns="0" bIns="0" anchor="t">
            <a:spAutoFit/>
          </a:bodyPr>
          <a:lstStyle/>
          <a:p>
            <a:pPr algn="l"/>
            <a:r>
              <a:rPr lang="en-US" sz="1650" dirty="0">
                <a:latin typeface="Montserrat SemiBold"/>
              </a:rPr>
              <a:t>Hypertension Patterns</a:t>
            </a:r>
            <a:endParaRPr sz="1650" b="0" u="none" dirty="0">
              <a:latin typeface="Montserrat SemiBold"/>
            </a:endParaRPr>
          </a:p>
        </p:txBody>
      </p:sp>
      <p:sp>
        <p:nvSpPr>
          <p:cNvPr id="10" name="Rectangle 9">
            <a:extLst>
              <a:ext uri="{FF2B5EF4-FFF2-40B4-BE49-F238E27FC236}">
                <a16:creationId xmlns:a16="http://schemas.microsoft.com/office/drawing/2014/main" id="{7AF9D714-50E2-B9C0-4A25-92A126A12078}"/>
              </a:ext>
            </a:extLst>
          </p:cNvPr>
          <p:cNvSpPr/>
          <p:nvPr/>
        </p:nvSpPr>
        <p:spPr>
          <a:xfrm>
            <a:off x="6629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1A60FF5F-528D-CFB1-2EFA-C7ABED7B89AC}"/>
              </a:ext>
            </a:extLst>
          </p:cNvPr>
          <p:cNvSpPr txBox="1"/>
          <p:nvPr/>
        </p:nvSpPr>
        <p:spPr>
          <a:xfrm>
            <a:off x="714375" y="571500"/>
            <a:ext cx="11451431" cy="400050"/>
          </a:xfrm>
          <a:prstGeom prst="rect">
            <a:avLst/>
          </a:prstGeom>
          <a:noFill/>
        </p:spPr>
        <p:txBody>
          <a:bodyPr wrap="square" lIns="0" tIns="0" rIns="0" bIns="0" anchor="t">
            <a:spAutoFit/>
          </a:bodyPr>
          <a:lstStyle/>
          <a:p>
            <a:pPr algn="l"/>
            <a:r>
              <a:rPr lang="en-US" sz="2550" b="1" dirty="0">
                <a:solidFill>
                  <a:srgbClr val="0B252E"/>
                </a:solidFill>
                <a:latin typeface="Montserrat"/>
              </a:rPr>
              <a:t>Data Snapshot</a:t>
            </a:r>
            <a:endParaRPr sz="2550" b="1" i="0" u="none" dirty="0">
              <a:solidFill>
                <a:srgbClr val="0B252E"/>
              </a:solidFill>
              <a:latin typeface="Montserrat"/>
            </a:endParaRPr>
          </a:p>
        </p:txBody>
      </p:sp>
      <p:sp>
        <p:nvSpPr>
          <p:cNvPr id="14" name="Rectangle 13">
            <a:extLst>
              <a:ext uri="{FF2B5EF4-FFF2-40B4-BE49-F238E27FC236}">
                <a16:creationId xmlns:a16="http://schemas.microsoft.com/office/drawing/2014/main" id="{D7F94A3C-EA2F-7D62-FE56-9D385214F61F}"/>
              </a:ext>
            </a:extLst>
          </p:cNvPr>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8445485-7F70-358B-0373-1DE14FEC3302}"/>
              </a:ext>
            </a:extLst>
          </p:cNvPr>
          <p:cNvSpPr txBox="1"/>
          <p:nvPr/>
        </p:nvSpPr>
        <p:spPr>
          <a:xfrm>
            <a:off x="815209" y="3113423"/>
            <a:ext cx="4747391" cy="1569660"/>
          </a:xfrm>
          <a:prstGeom prst="rect">
            <a:avLst/>
          </a:prstGeom>
          <a:noFill/>
        </p:spPr>
        <p:txBody>
          <a:bodyPr wrap="square">
            <a:spAutoFit/>
          </a:bodyPr>
          <a:lstStyle/>
          <a:p>
            <a:pPr marL="171450" indent="-171450">
              <a:buFont typeface="Arial" panose="020B0604020202020204" pitchFamily="34" charset="0"/>
              <a:buChar char="•"/>
            </a:pPr>
            <a:r>
              <a:rPr lang="en-US" sz="1200" b="1" dirty="0">
                <a:latin typeface="Inter"/>
              </a:rPr>
              <a:t>436, 781 </a:t>
            </a:r>
            <a:r>
              <a:rPr lang="en-US" sz="1200" dirty="0">
                <a:latin typeface="Inter"/>
              </a:rPr>
              <a:t>respondents</a:t>
            </a:r>
          </a:p>
          <a:p>
            <a:pPr marL="171450" indent="-171450">
              <a:buFont typeface="Arial" panose="020B0604020202020204" pitchFamily="34" charset="0"/>
              <a:buChar char="•"/>
            </a:pPr>
            <a:r>
              <a:rPr lang="en-US" sz="1200" dirty="0">
                <a:latin typeface="Inter"/>
              </a:rPr>
              <a:t>Mean Age → </a:t>
            </a:r>
            <a:r>
              <a:rPr lang="en-US" sz="1200" b="1" dirty="0">
                <a:latin typeface="Inter"/>
              </a:rPr>
              <a:t>55 years</a:t>
            </a:r>
            <a:r>
              <a:rPr lang="en-US" sz="1200" dirty="0">
                <a:latin typeface="Inter"/>
              </a:rPr>
              <a:t> </a:t>
            </a:r>
          </a:p>
          <a:p>
            <a:pPr marL="171450" indent="-171450">
              <a:buFont typeface="Arial" panose="020B0604020202020204" pitchFamily="34" charset="0"/>
              <a:buChar char="•"/>
            </a:pPr>
            <a:r>
              <a:rPr lang="en-US" sz="1200" dirty="0">
                <a:latin typeface="Inter"/>
              </a:rPr>
              <a:t>Average BMI → </a:t>
            </a:r>
            <a:r>
              <a:rPr lang="en-US" sz="1200" b="1" dirty="0">
                <a:latin typeface="Inter"/>
              </a:rPr>
              <a:t>28 kg/m²</a:t>
            </a:r>
            <a:r>
              <a:rPr lang="en-US" sz="1200" dirty="0">
                <a:latin typeface="Inter"/>
              </a:rPr>
              <a:t> </a:t>
            </a:r>
          </a:p>
          <a:p>
            <a:pPr marL="171450" indent="-171450">
              <a:buFont typeface="Arial" panose="020B0604020202020204" pitchFamily="34" charset="0"/>
              <a:buChar char="•"/>
            </a:pPr>
            <a:r>
              <a:rPr lang="en-US" sz="1200" dirty="0">
                <a:latin typeface="Inter"/>
              </a:rPr>
              <a:t>Slightly more </a:t>
            </a:r>
            <a:r>
              <a:rPr lang="en-US" sz="1200" b="1" dirty="0">
                <a:latin typeface="Inter"/>
              </a:rPr>
              <a:t>men than women</a:t>
            </a:r>
            <a:r>
              <a:rPr lang="en-US" sz="1200" dirty="0">
                <a:latin typeface="Inter"/>
              </a:rPr>
              <a:t> </a:t>
            </a:r>
          </a:p>
          <a:p>
            <a:pPr marL="171450" indent="-171450">
              <a:buFont typeface="Arial" panose="020B0604020202020204" pitchFamily="34" charset="0"/>
              <a:buChar char="•"/>
            </a:pPr>
            <a:r>
              <a:rPr lang="en-US" sz="1200" dirty="0">
                <a:latin typeface="Inter"/>
              </a:rPr>
              <a:t>Predominantly </a:t>
            </a:r>
            <a:r>
              <a:rPr lang="en-US" sz="1200" b="1" dirty="0">
                <a:latin typeface="Inter"/>
              </a:rPr>
              <a:t>White, non-Hispanic</a:t>
            </a:r>
            <a:r>
              <a:rPr lang="en-US" sz="1200" dirty="0">
                <a:latin typeface="Inter"/>
              </a:rPr>
              <a:t> </a:t>
            </a:r>
          </a:p>
          <a:p>
            <a:pPr marL="171450" indent="-171450">
              <a:buFont typeface="Arial" panose="020B0604020202020204" pitchFamily="34" charset="0"/>
              <a:buChar char="•"/>
            </a:pPr>
            <a:r>
              <a:rPr lang="en-US" sz="1200" dirty="0">
                <a:latin typeface="Inter"/>
              </a:rPr>
              <a:t>Majority in </a:t>
            </a:r>
            <a:r>
              <a:rPr lang="en-US" sz="1200" b="1" dirty="0">
                <a:latin typeface="Inter"/>
              </a:rPr>
              <a:t>medium-income ($35K–$100K)</a:t>
            </a:r>
            <a:r>
              <a:rPr lang="en-US" sz="1200" dirty="0">
                <a:latin typeface="Inter"/>
              </a:rPr>
              <a:t> or </a:t>
            </a:r>
            <a:r>
              <a:rPr lang="en-US" sz="1200" b="1" dirty="0">
                <a:latin typeface="Inter"/>
              </a:rPr>
              <a:t>low-income (&lt;$35K)</a:t>
            </a:r>
            <a:r>
              <a:rPr lang="en-US" sz="1200" dirty="0">
                <a:latin typeface="Inter"/>
              </a:rPr>
              <a:t> groups</a:t>
            </a:r>
          </a:p>
          <a:p>
            <a:pPr marL="171450" indent="-171450">
              <a:buFont typeface="Arial" panose="020B0604020202020204" pitchFamily="34" charset="0"/>
              <a:buChar char="•"/>
            </a:pPr>
            <a:r>
              <a:rPr lang="en-US" sz="1200" dirty="0">
                <a:latin typeface="Inter"/>
              </a:rPr>
              <a:t>Predominantly from </a:t>
            </a:r>
            <a:r>
              <a:rPr lang="en-US" sz="1200" b="1" dirty="0">
                <a:latin typeface="Inter"/>
              </a:rPr>
              <a:t>urban counties</a:t>
            </a:r>
            <a:endParaRPr lang="en-US" sz="1200" dirty="0">
              <a:latin typeface="Inter"/>
            </a:endParaRPr>
          </a:p>
        </p:txBody>
      </p:sp>
      <p:sp>
        <p:nvSpPr>
          <p:cNvPr id="18" name="TextBox 17">
            <a:extLst>
              <a:ext uri="{FF2B5EF4-FFF2-40B4-BE49-F238E27FC236}">
                <a16:creationId xmlns:a16="http://schemas.microsoft.com/office/drawing/2014/main" id="{2FA58E72-925D-4DEF-01C6-B656C8065B51}"/>
              </a:ext>
            </a:extLst>
          </p:cNvPr>
          <p:cNvSpPr txBox="1"/>
          <p:nvPr/>
        </p:nvSpPr>
        <p:spPr>
          <a:xfrm>
            <a:off x="6560360" y="3113423"/>
            <a:ext cx="4717239" cy="1200329"/>
          </a:xfrm>
          <a:prstGeom prst="rect">
            <a:avLst/>
          </a:prstGeom>
          <a:noFill/>
        </p:spPr>
        <p:txBody>
          <a:bodyPr wrap="square">
            <a:spAutoFit/>
          </a:bodyPr>
          <a:lstStyle/>
          <a:p>
            <a:pPr marL="171450" indent="-171450">
              <a:buFont typeface="Arial" panose="020B0604020202020204" pitchFamily="34" charset="0"/>
              <a:buChar char="•"/>
            </a:pPr>
            <a:r>
              <a:rPr lang="en-US" sz="1200" b="1" dirty="0">
                <a:latin typeface="Inter"/>
              </a:rPr>
              <a:t>39%</a:t>
            </a:r>
            <a:r>
              <a:rPr lang="en-US" sz="1200" dirty="0">
                <a:latin typeface="Inter"/>
              </a:rPr>
              <a:t> hypertension prevalence </a:t>
            </a:r>
          </a:p>
          <a:p>
            <a:pPr marL="171450" indent="-171450">
              <a:buFont typeface="Arial" panose="020B0604020202020204" pitchFamily="34" charset="0"/>
              <a:buChar char="•"/>
            </a:pPr>
            <a:r>
              <a:rPr lang="en-US" sz="1200" dirty="0">
                <a:latin typeface="Inter"/>
              </a:rPr>
              <a:t>Similar prevalence by sex: </a:t>
            </a:r>
            <a:r>
              <a:rPr lang="en-US" sz="1200" b="1" dirty="0">
                <a:latin typeface="Inter"/>
              </a:rPr>
              <a:t>Men 40% | Women 37%</a:t>
            </a:r>
            <a:r>
              <a:rPr lang="en-US" sz="1200" dirty="0">
                <a:latin typeface="Inter"/>
              </a:rPr>
              <a:t> </a:t>
            </a:r>
          </a:p>
          <a:p>
            <a:pPr marL="171450" indent="-171450">
              <a:buFont typeface="Arial" panose="020B0604020202020204" pitchFamily="34" charset="0"/>
              <a:buChar char="•"/>
            </a:pPr>
            <a:r>
              <a:rPr lang="en-US" sz="1200" dirty="0">
                <a:latin typeface="Inter"/>
              </a:rPr>
              <a:t>Prevalence varied across </a:t>
            </a:r>
            <a:r>
              <a:rPr lang="en-US" sz="1200" b="1" dirty="0">
                <a:latin typeface="Inter"/>
              </a:rPr>
              <a:t>racial and ethnic groups</a:t>
            </a:r>
            <a:r>
              <a:rPr lang="en-US" sz="1200" dirty="0">
                <a:latin typeface="Inter"/>
              </a:rPr>
              <a:t> </a:t>
            </a:r>
          </a:p>
          <a:p>
            <a:pPr marL="171450" indent="-171450">
              <a:buFont typeface="Arial" panose="020B0604020202020204" pitchFamily="34" charset="0"/>
              <a:buChar char="•"/>
            </a:pPr>
            <a:r>
              <a:rPr lang="en-US" sz="1200" dirty="0">
                <a:latin typeface="Inter"/>
              </a:rPr>
              <a:t>Clear income gradient: </a:t>
            </a:r>
            <a:r>
              <a:rPr lang="en-US" sz="1200" b="1" dirty="0">
                <a:latin typeface="Inter"/>
              </a:rPr>
              <a:t>~50% low income → ~30% high income</a:t>
            </a:r>
          </a:p>
          <a:p>
            <a:pPr marL="171450" indent="-171450">
              <a:buFont typeface="Arial" panose="020B0604020202020204" pitchFamily="34" charset="0"/>
              <a:buChar char="•"/>
            </a:pPr>
            <a:r>
              <a:rPr lang="en-US" sz="1200" dirty="0">
                <a:latin typeface="Inter"/>
              </a:rPr>
              <a:t>Highest prevalence among those </a:t>
            </a:r>
            <a:r>
              <a:rPr lang="en-US" sz="1200" b="1" dirty="0">
                <a:latin typeface="Inter"/>
              </a:rPr>
              <a:t>retired or unable to work (~60%)</a:t>
            </a:r>
          </a:p>
          <a:p>
            <a:pPr marL="171450" indent="-171450">
              <a:buFont typeface="Arial" panose="020B0604020202020204" pitchFamily="34" charset="0"/>
              <a:buChar char="•"/>
            </a:pPr>
            <a:r>
              <a:rPr lang="en-US" sz="1200" dirty="0">
                <a:latin typeface="Inter"/>
              </a:rPr>
              <a:t>Higher prevalence in </a:t>
            </a:r>
            <a:r>
              <a:rPr lang="en-US" sz="1200" b="1" dirty="0">
                <a:latin typeface="Inter"/>
              </a:rPr>
              <a:t>rural (&gt;40%) vs. urban counties</a:t>
            </a:r>
            <a:endParaRPr lang="en-US" sz="1200" dirty="0">
              <a:latin typeface="Inter"/>
            </a:endParaRPr>
          </a:p>
        </p:txBody>
      </p:sp>
    </p:spTree>
    <p:extLst>
      <p:ext uri="{BB962C8B-B14F-4D97-AF65-F5344CB8AC3E}">
        <p14:creationId xmlns:p14="http://schemas.microsoft.com/office/powerpoint/2010/main" val="1947415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571500" y="1747837"/>
            <a:ext cx="5600700" cy="257175"/>
          </a:xfrm>
          <a:prstGeom prst="rect">
            <a:avLst/>
          </a:prstGeom>
          <a:noFill/>
        </p:spPr>
        <p:txBody>
          <a:bodyPr wrap="square" lIns="0" tIns="0" rIns="0" bIns="0" anchor="t">
            <a:spAutoFit/>
          </a:bodyPr>
          <a:lstStyle/>
          <a:p>
            <a:pPr algn="l"/>
            <a:r>
              <a:rPr sz="1650" b="0" i="0" u="none" dirty="0">
                <a:solidFill>
                  <a:srgbClr val="0B252E"/>
                </a:solidFill>
                <a:latin typeface="Montserrat SemiBold"/>
              </a:rPr>
              <a:t>Age &amp; Weight Correlations</a:t>
            </a:r>
          </a:p>
        </p:txBody>
      </p:sp>
      <p:sp>
        <p:nvSpPr>
          <p:cNvPr id="5" name="TextBox 4"/>
          <p:cNvSpPr txBox="1"/>
          <p:nvPr/>
        </p:nvSpPr>
        <p:spPr>
          <a:xfrm>
            <a:off x="571500" y="2100262"/>
            <a:ext cx="5334000" cy="731341"/>
          </a:xfrm>
          <a:prstGeom prst="rect">
            <a:avLst/>
          </a:prstGeom>
          <a:noFill/>
        </p:spPr>
        <p:txBody>
          <a:bodyPr wrap="square" lIns="0" tIns="0" rIns="0" bIns="0" anchor="t">
            <a:spAutoFit/>
          </a:bodyPr>
          <a:lstStyle/>
          <a:p>
            <a:pPr algn="l">
              <a:lnSpc>
                <a:spcPts val="1920"/>
              </a:lnSpc>
            </a:pPr>
            <a:r>
              <a:rPr sz="1200" b="0" i="0" u="none" dirty="0">
                <a:latin typeface="Inter"/>
              </a:rPr>
              <a:t>Exploratory data analysis demonstrates a steep, linear relationship between progressive age and high blood pressure prevalence, hitting its highest concentration at 65+.</a:t>
            </a:r>
          </a:p>
        </p:txBody>
      </p:sp>
      <p:sp>
        <p:nvSpPr>
          <p:cNvPr id="6" name="TextBox 5"/>
          <p:cNvSpPr txBox="1"/>
          <p:nvPr/>
        </p:nvSpPr>
        <p:spPr>
          <a:xfrm>
            <a:off x="571500" y="2974478"/>
            <a:ext cx="5334000" cy="467051"/>
          </a:xfrm>
          <a:prstGeom prst="rect">
            <a:avLst/>
          </a:prstGeom>
          <a:noFill/>
        </p:spPr>
        <p:txBody>
          <a:bodyPr wrap="square" lIns="0" tIns="0" rIns="0" bIns="0" anchor="t">
            <a:spAutoFit/>
          </a:bodyPr>
          <a:lstStyle/>
          <a:p>
            <a:pPr algn="l">
              <a:lnSpc>
                <a:spcPts val="1920"/>
              </a:lnSpc>
            </a:pPr>
            <a:r>
              <a:rPr sz="1200" b="1" i="0" u="none" dirty="0">
                <a:latin typeface="Inter"/>
              </a:rPr>
              <a:t>Body Mass Index:</a:t>
            </a:r>
            <a:r>
              <a:rPr sz="1200" b="0" i="0" u="none" dirty="0">
                <a:latin typeface="Inter"/>
              </a:rPr>
              <a:t> Average BMI in the hypertensive cohort sits at </a:t>
            </a:r>
            <a:r>
              <a:rPr sz="1200" b="1" i="0" u="none" dirty="0">
                <a:latin typeface="Inter"/>
              </a:rPr>
              <a:t>28.5 kg/m²</a:t>
            </a:r>
            <a:r>
              <a:rPr sz="1200" b="0" i="0" u="none" dirty="0">
                <a:latin typeface="Inter"/>
              </a:rPr>
              <a:t> (solidly within the medically overweight spectrum) compared to normotensive groups.</a:t>
            </a:r>
          </a:p>
        </p:txBody>
      </p:sp>
      <p:sp>
        <p:nvSpPr>
          <p:cNvPr id="7" name="TextBox 6"/>
          <p:cNvSpPr txBox="1"/>
          <p:nvPr/>
        </p:nvSpPr>
        <p:spPr>
          <a:xfrm>
            <a:off x="571500" y="3848695"/>
            <a:ext cx="5334000" cy="467051"/>
          </a:xfrm>
          <a:prstGeom prst="rect">
            <a:avLst/>
          </a:prstGeom>
          <a:noFill/>
        </p:spPr>
        <p:txBody>
          <a:bodyPr wrap="square" lIns="0" tIns="0" rIns="0" bIns="0" anchor="t">
            <a:spAutoFit/>
          </a:bodyPr>
          <a:lstStyle/>
          <a:p>
            <a:pPr algn="l">
              <a:lnSpc>
                <a:spcPts val="1920"/>
              </a:lnSpc>
            </a:pPr>
            <a:r>
              <a:rPr sz="1200" b="0" i="0" u="none">
                <a:latin typeface="Inter"/>
              </a:rPr>
              <a:t>These strong clinical gradients match established epidemiological research, verifying the structural integrity of this self-reported questionnaire dataset.</a:t>
            </a:r>
          </a:p>
        </p:txBody>
      </p:sp>
      <p:sp>
        <p:nvSpPr>
          <p:cNvPr id="8" name="TextBox 7"/>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Primary Clinical Risk Drivers</a:t>
            </a:r>
          </a:p>
        </p:txBody>
      </p:sp>
      <p:sp>
        <p:nvSpPr>
          <p:cNvPr id="9" name="Rectangle 8"/>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EDC50A4F-E68E-D05A-3F35-81667817971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5079" y="1543050"/>
            <a:ext cx="4995421" cy="40149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4" name="TextBox 3"/>
          <p:cNvSpPr txBox="1"/>
          <p:nvPr/>
        </p:nvSpPr>
        <p:spPr>
          <a:xfrm>
            <a:off x="6286500" y="1747837"/>
            <a:ext cx="5600700" cy="257175"/>
          </a:xfrm>
          <a:prstGeom prst="rect">
            <a:avLst/>
          </a:prstGeom>
          <a:noFill/>
        </p:spPr>
        <p:txBody>
          <a:bodyPr wrap="square" lIns="0" tIns="0" rIns="0" bIns="0" anchor="t">
            <a:spAutoFit/>
          </a:bodyPr>
          <a:lstStyle/>
          <a:p>
            <a:pPr algn="l"/>
            <a:r>
              <a:rPr sz="1650" b="0" i="0" u="none">
                <a:solidFill>
                  <a:srgbClr val="0B252E"/>
                </a:solidFill>
                <a:latin typeface="Montserrat SemiBold"/>
              </a:rPr>
              <a:t>Social Determinants of Health</a:t>
            </a:r>
          </a:p>
        </p:txBody>
      </p:sp>
      <p:sp>
        <p:nvSpPr>
          <p:cNvPr id="5" name="TextBox 4"/>
          <p:cNvSpPr txBox="1"/>
          <p:nvPr/>
        </p:nvSpPr>
        <p:spPr>
          <a:xfrm>
            <a:off x="6286500" y="2100262"/>
            <a:ext cx="5334000" cy="731341"/>
          </a:xfrm>
          <a:prstGeom prst="rect">
            <a:avLst/>
          </a:prstGeom>
          <a:noFill/>
        </p:spPr>
        <p:txBody>
          <a:bodyPr wrap="square" lIns="0" tIns="0" rIns="0" bIns="0" anchor="t">
            <a:spAutoFit/>
          </a:bodyPr>
          <a:lstStyle/>
          <a:p>
            <a:pPr algn="l">
              <a:lnSpc>
                <a:spcPts val="1920"/>
              </a:lnSpc>
            </a:pPr>
            <a:r>
              <a:rPr sz="1200" b="1" i="0" u="none" dirty="0">
                <a:latin typeface="Inter"/>
              </a:rPr>
              <a:t>The Nutrition Gap:</a:t>
            </a:r>
            <a:r>
              <a:rPr sz="1200" b="0" i="0" u="none" dirty="0">
                <a:latin typeface="Inter"/>
              </a:rPr>
              <a:t> Survey analysis shows a strong, protective relationship linked to daily nutrition. Proactive fruit and vegetable intake correlates with lower diagnostic rates.</a:t>
            </a:r>
          </a:p>
        </p:txBody>
      </p:sp>
      <p:sp>
        <p:nvSpPr>
          <p:cNvPr id="6" name="TextBox 5"/>
          <p:cNvSpPr txBox="1"/>
          <p:nvPr/>
        </p:nvSpPr>
        <p:spPr>
          <a:xfrm>
            <a:off x="6286500" y="3097467"/>
            <a:ext cx="5334000" cy="467051"/>
          </a:xfrm>
          <a:prstGeom prst="rect">
            <a:avLst/>
          </a:prstGeom>
          <a:noFill/>
        </p:spPr>
        <p:txBody>
          <a:bodyPr wrap="square" lIns="0" tIns="0" rIns="0" bIns="0" anchor="t">
            <a:spAutoFit/>
          </a:bodyPr>
          <a:lstStyle/>
          <a:p>
            <a:pPr algn="l">
              <a:lnSpc>
                <a:spcPts val="1920"/>
              </a:lnSpc>
            </a:pPr>
            <a:r>
              <a:rPr sz="1200" b="1" i="0" u="none" dirty="0">
                <a:latin typeface="Inter"/>
              </a:rPr>
              <a:t>Economic Gradients:</a:t>
            </a:r>
            <a:r>
              <a:rPr sz="1200" b="0" i="0" u="none" dirty="0">
                <a:latin typeface="Inter"/>
              </a:rPr>
              <a:t> Respondents in lower income tiers and those currently unable to work report disproportionately higher rates of chronic hypertension</a:t>
            </a:r>
            <a:r>
              <a:rPr sz="1200" b="0" i="0" u="none" dirty="0">
                <a:solidFill>
                  <a:srgbClr val="475569"/>
                </a:solidFill>
                <a:latin typeface="Inter"/>
              </a:rPr>
              <a:t>.</a:t>
            </a:r>
          </a:p>
        </p:txBody>
      </p:sp>
      <p:sp>
        <p:nvSpPr>
          <p:cNvPr id="7" name="TextBox 6"/>
          <p:cNvSpPr txBox="1"/>
          <p:nvPr/>
        </p:nvSpPr>
        <p:spPr>
          <a:xfrm>
            <a:off x="6286500" y="3936034"/>
            <a:ext cx="5334000" cy="1441677"/>
          </a:xfrm>
          <a:prstGeom prst="rect">
            <a:avLst/>
          </a:prstGeom>
          <a:noFill/>
        </p:spPr>
        <p:txBody>
          <a:bodyPr wrap="square" lIns="0" tIns="0" rIns="0" bIns="0" anchor="t">
            <a:spAutoFit/>
          </a:bodyPr>
          <a:lstStyle/>
          <a:p>
            <a:pPr algn="l">
              <a:lnSpc>
                <a:spcPts val="1920"/>
              </a:lnSpc>
            </a:pPr>
            <a:r>
              <a:rPr sz="1200" b="1" i="0" u="none" dirty="0">
                <a:latin typeface="Inter"/>
              </a:rPr>
              <a:t>Physical Inactivity:</a:t>
            </a:r>
            <a:r>
              <a:rPr sz="1200" b="0" i="0" u="none" dirty="0">
                <a:latin typeface="Inter"/>
              </a:rPr>
              <a:t> Inactive individuals (reporting zero moderate-to-vigorous physical exercise within the past 30 days) display heavily elevated diagnostic risks.</a:t>
            </a:r>
            <a:endParaRPr lang="en-US" sz="1200" b="0" i="0" u="none" dirty="0">
              <a:latin typeface="Inter"/>
            </a:endParaRPr>
          </a:p>
          <a:p>
            <a:pPr algn="l">
              <a:lnSpc>
                <a:spcPts val="1920"/>
              </a:lnSpc>
            </a:pPr>
            <a:endParaRPr lang="en-US" sz="1200" dirty="0">
              <a:latin typeface="Inter"/>
            </a:endParaRPr>
          </a:p>
          <a:p>
            <a:pPr algn="l">
              <a:lnSpc>
                <a:spcPts val="1920"/>
              </a:lnSpc>
            </a:pPr>
            <a:endParaRPr lang="en-US" sz="1200" b="0" i="0" u="none" dirty="0">
              <a:latin typeface="Inter"/>
            </a:endParaRPr>
          </a:p>
          <a:p>
            <a:pPr algn="l">
              <a:lnSpc>
                <a:spcPts val="1920"/>
              </a:lnSpc>
            </a:pPr>
            <a:endParaRPr lang="en-US" sz="1200" dirty="0">
              <a:latin typeface="Inter"/>
            </a:endParaRPr>
          </a:p>
          <a:p>
            <a:pPr algn="l">
              <a:lnSpc>
                <a:spcPts val="1920"/>
              </a:lnSpc>
            </a:pPr>
            <a:endParaRPr sz="1200" b="0" i="0" u="none" dirty="0">
              <a:latin typeface="Inter"/>
            </a:endParaRPr>
          </a:p>
        </p:txBody>
      </p:sp>
      <p:sp>
        <p:nvSpPr>
          <p:cNvPr id="8" name="TextBox 7"/>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Dietary &amp; Economic Risks</a:t>
            </a:r>
          </a:p>
        </p:txBody>
      </p:sp>
      <p:sp>
        <p:nvSpPr>
          <p:cNvPr id="9" name="Rectangle 8"/>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B90AF20-BAFD-394C-144A-3A78BE9FAF96}"/>
              </a:ext>
            </a:extLst>
          </p:cNvPr>
          <p:cNvSpPr txBox="1"/>
          <p:nvPr/>
        </p:nvSpPr>
        <p:spPr>
          <a:xfrm>
            <a:off x="6180083" y="4656873"/>
            <a:ext cx="5440417" cy="461665"/>
          </a:xfrm>
          <a:prstGeom prst="rect">
            <a:avLst/>
          </a:prstGeom>
          <a:noFill/>
        </p:spPr>
        <p:txBody>
          <a:bodyPr wrap="square">
            <a:spAutoFit/>
          </a:bodyPr>
          <a:lstStyle/>
          <a:p>
            <a:r>
              <a:rPr lang="en-US" sz="1200" b="1" dirty="0">
                <a:latin typeface="Inter"/>
              </a:rPr>
              <a:t>Feature Refinement:</a:t>
            </a:r>
            <a:r>
              <a:rPr lang="en-US" sz="1200" dirty="0">
                <a:latin typeface="Inter"/>
              </a:rPr>
              <a:t> Dropped redundant features (e.g., dark green vegetables) to prevent multi-collinearity and optimize model performance.</a:t>
            </a:r>
          </a:p>
        </p:txBody>
      </p:sp>
      <p:pic>
        <p:nvPicPr>
          <p:cNvPr id="21" name="Picture 20">
            <a:extLst>
              <a:ext uri="{FF2B5EF4-FFF2-40B4-BE49-F238E27FC236}">
                <a16:creationId xmlns:a16="http://schemas.microsoft.com/office/drawing/2014/main" id="{B059D68A-F41C-54AB-B17F-CFC13E361536}"/>
              </a:ext>
            </a:extLst>
          </p:cNvPr>
          <p:cNvPicPr>
            <a:picLocks noChangeAspect="1"/>
          </p:cNvPicPr>
          <p:nvPr/>
        </p:nvPicPr>
        <p:blipFill>
          <a:blip r:embed="rId3"/>
          <a:stretch>
            <a:fillRect/>
          </a:stretch>
        </p:blipFill>
        <p:spPr>
          <a:xfrm>
            <a:off x="264072" y="1747838"/>
            <a:ext cx="5614366" cy="3370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4C9B91C8-A2AA-A96C-89D8-84FD5C7C12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16FD99-CEAA-0DAA-E012-9294C866C480}"/>
              </a:ext>
            </a:extLst>
          </p:cNvPr>
          <p:cNvSpPr txBox="1"/>
          <p:nvPr/>
        </p:nvSpPr>
        <p:spPr>
          <a:xfrm>
            <a:off x="571500" y="1747837"/>
            <a:ext cx="5600700" cy="257175"/>
          </a:xfrm>
          <a:prstGeom prst="rect">
            <a:avLst/>
          </a:prstGeom>
          <a:noFill/>
        </p:spPr>
        <p:txBody>
          <a:bodyPr wrap="square" lIns="0" tIns="0" rIns="0" bIns="0" anchor="t">
            <a:spAutoFit/>
          </a:bodyPr>
          <a:lstStyle/>
          <a:p>
            <a:pPr algn="l"/>
            <a:r>
              <a:rPr lang="en-US" sz="1650" dirty="0">
                <a:solidFill>
                  <a:srgbClr val="0B252E"/>
                </a:solidFill>
                <a:latin typeface="Montserrat SemiBold"/>
              </a:rPr>
              <a:t>Preparing Survey Outputs for Predictive Modeling</a:t>
            </a:r>
            <a:endParaRPr sz="1650" b="0" i="0" u="none" dirty="0">
              <a:solidFill>
                <a:srgbClr val="0B252E"/>
              </a:solidFill>
              <a:latin typeface="Montserrat SemiBold"/>
            </a:endParaRPr>
          </a:p>
        </p:txBody>
      </p:sp>
      <p:sp>
        <p:nvSpPr>
          <p:cNvPr id="8" name="TextBox 7">
            <a:extLst>
              <a:ext uri="{FF2B5EF4-FFF2-40B4-BE49-F238E27FC236}">
                <a16:creationId xmlns:a16="http://schemas.microsoft.com/office/drawing/2014/main" id="{C2E5BFCF-FD45-FCDA-A702-97F1E06E62CE}"/>
              </a:ext>
            </a:extLst>
          </p:cNvPr>
          <p:cNvSpPr txBox="1"/>
          <p:nvPr/>
        </p:nvSpPr>
        <p:spPr>
          <a:xfrm>
            <a:off x="714375" y="571500"/>
            <a:ext cx="11451431" cy="400050"/>
          </a:xfrm>
          <a:prstGeom prst="rect">
            <a:avLst/>
          </a:prstGeom>
          <a:noFill/>
        </p:spPr>
        <p:txBody>
          <a:bodyPr wrap="square" lIns="0" tIns="0" rIns="0" bIns="0" anchor="t">
            <a:spAutoFit/>
          </a:bodyPr>
          <a:lstStyle/>
          <a:p>
            <a:pPr algn="l"/>
            <a:r>
              <a:rPr lang="en-US" sz="2550" b="1" i="0" u="none" dirty="0">
                <a:solidFill>
                  <a:srgbClr val="0B252E"/>
                </a:solidFill>
                <a:latin typeface="Montserrat"/>
              </a:rPr>
              <a:t>Feature Engineering and Pre-Processing</a:t>
            </a:r>
            <a:endParaRPr sz="2550" b="1" i="0" u="none" dirty="0">
              <a:solidFill>
                <a:srgbClr val="0B252E"/>
              </a:solidFill>
              <a:latin typeface="Montserrat"/>
            </a:endParaRPr>
          </a:p>
        </p:txBody>
      </p:sp>
      <p:sp>
        <p:nvSpPr>
          <p:cNvPr id="9" name="Rectangle 8">
            <a:extLst>
              <a:ext uri="{FF2B5EF4-FFF2-40B4-BE49-F238E27FC236}">
                <a16:creationId xmlns:a16="http://schemas.microsoft.com/office/drawing/2014/main" id="{60346A21-CF6D-6FE3-61BA-3924FCB1EC4F}"/>
              </a:ext>
            </a:extLst>
          </p:cNvPr>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Chart 15">
            <a:extLst>
              <a:ext uri="{FF2B5EF4-FFF2-40B4-BE49-F238E27FC236}">
                <a16:creationId xmlns:a16="http://schemas.microsoft.com/office/drawing/2014/main" id="{D2C8F637-C182-F0DF-F834-6A1D6C1CF608}"/>
              </a:ext>
            </a:extLst>
          </p:cNvPr>
          <p:cNvGraphicFramePr/>
          <p:nvPr>
            <p:extLst>
              <p:ext uri="{D42A27DB-BD31-4B8C-83A1-F6EECF244321}">
                <p14:modId xmlns:p14="http://schemas.microsoft.com/office/powerpoint/2010/main" val="1608781671"/>
              </p:ext>
            </p:extLst>
          </p:nvPr>
        </p:nvGraphicFramePr>
        <p:xfrm>
          <a:off x="6901543" y="1648317"/>
          <a:ext cx="4325654" cy="4476094"/>
        </p:xfrm>
        <a:graphic>
          <a:graphicData uri="http://schemas.openxmlformats.org/drawingml/2006/chart">
            <c:chart xmlns:c="http://schemas.openxmlformats.org/drawingml/2006/chart" xmlns:r="http://schemas.openxmlformats.org/officeDocument/2006/relationships" r:id="rId3"/>
          </a:graphicData>
        </a:graphic>
      </p:graphicFrame>
      <p:grpSp>
        <p:nvGrpSpPr>
          <p:cNvPr id="19" name="Group 18">
            <a:extLst>
              <a:ext uri="{FF2B5EF4-FFF2-40B4-BE49-F238E27FC236}">
                <a16:creationId xmlns:a16="http://schemas.microsoft.com/office/drawing/2014/main" id="{82119944-7FEB-5565-4D98-F936EF05FA90}"/>
              </a:ext>
            </a:extLst>
          </p:cNvPr>
          <p:cNvGrpSpPr/>
          <p:nvPr/>
        </p:nvGrpSpPr>
        <p:grpSpPr>
          <a:xfrm>
            <a:off x="488730" y="2262938"/>
            <a:ext cx="5440582" cy="3219345"/>
            <a:chOff x="488730" y="2225014"/>
            <a:chExt cx="5440582" cy="2922982"/>
          </a:xfrm>
        </p:grpSpPr>
        <p:sp>
          <p:nvSpPr>
            <p:cNvPr id="5" name="TextBox 4">
              <a:extLst>
                <a:ext uri="{FF2B5EF4-FFF2-40B4-BE49-F238E27FC236}">
                  <a16:creationId xmlns:a16="http://schemas.microsoft.com/office/drawing/2014/main" id="{EF03EECB-0B3C-74F9-2FC4-FF61FCF10713}"/>
                </a:ext>
              </a:extLst>
            </p:cNvPr>
            <p:cNvSpPr txBox="1"/>
            <p:nvPr/>
          </p:nvSpPr>
          <p:spPr>
            <a:xfrm>
              <a:off x="571500" y="2961949"/>
              <a:ext cx="5334000" cy="467051"/>
            </a:xfrm>
            <a:prstGeom prst="rect">
              <a:avLst/>
            </a:prstGeom>
            <a:noFill/>
          </p:spPr>
          <p:txBody>
            <a:bodyPr wrap="square" lIns="0" tIns="0" rIns="0" bIns="0" anchor="t">
              <a:spAutoFit/>
            </a:bodyPr>
            <a:lstStyle/>
            <a:p>
              <a:pPr>
                <a:lnSpc>
                  <a:spcPts val="1920"/>
                </a:lnSpc>
              </a:pPr>
              <a:r>
                <a:rPr lang="en-US" sz="1200" b="1" dirty="0"/>
                <a:t>Categorical Encoding:</a:t>
              </a:r>
              <a:r>
                <a:rPr lang="en-US" sz="1200" dirty="0"/>
                <a:t> Applied One-Hot Encoding across multi-class categorical features (e.g., Marital status, Race, Employment status)</a:t>
              </a:r>
              <a:endParaRPr sz="1200" b="0" i="0" u="none" dirty="0">
                <a:latin typeface="Inter"/>
              </a:endParaRPr>
            </a:p>
          </p:txBody>
        </p:sp>
        <p:sp>
          <p:nvSpPr>
            <p:cNvPr id="6" name="TextBox 5">
              <a:extLst>
                <a:ext uri="{FF2B5EF4-FFF2-40B4-BE49-F238E27FC236}">
                  <a16:creationId xmlns:a16="http://schemas.microsoft.com/office/drawing/2014/main" id="{A8664C72-0E53-D5A5-3140-19292F87C1B8}"/>
                </a:ext>
              </a:extLst>
            </p:cNvPr>
            <p:cNvSpPr txBox="1"/>
            <p:nvPr/>
          </p:nvSpPr>
          <p:spPr>
            <a:xfrm>
              <a:off x="595312" y="3720939"/>
              <a:ext cx="5334000" cy="467051"/>
            </a:xfrm>
            <a:prstGeom prst="rect">
              <a:avLst/>
            </a:prstGeom>
            <a:noFill/>
          </p:spPr>
          <p:txBody>
            <a:bodyPr wrap="square" lIns="0" tIns="0" rIns="0" bIns="0" anchor="t">
              <a:spAutoFit/>
            </a:bodyPr>
            <a:lstStyle/>
            <a:p>
              <a:pPr>
                <a:lnSpc>
                  <a:spcPts val="1920"/>
                </a:lnSpc>
              </a:pPr>
              <a:r>
                <a:rPr lang="en-US" sz="1200" b="1" dirty="0">
                  <a:latin typeface="Inter"/>
                </a:rPr>
                <a:t>Continuous Feature Scaling:</a:t>
              </a:r>
              <a:r>
                <a:rPr lang="en-US" sz="1200" dirty="0">
                  <a:latin typeface="Inter"/>
                </a:rPr>
                <a:t> Standardized continuous features using </a:t>
              </a:r>
              <a:r>
                <a:rPr lang="en-US" sz="1200" b="1" dirty="0" err="1">
                  <a:latin typeface="Inter"/>
                </a:rPr>
                <a:t>StandardScaler</a:t>
              </a:r>
              <a:r>
                <a:rPr lang="en-US" sz="1200" dirty="0">
                  <a:latin typeface="Inter"/>
                </a:rPr>
                <a:t> (e.g., age, BMI, fruit and vegetable intake).</a:t>
              </a:r>
              <a:endParaRPr sz="1200" b="0" i="0" u="none" dirty="0">
                <a:latin typeface="Inter"/>
              </a:endParaRPr>
            </a:p>
          </p:txBody>
        </p:sp>
        <p:sp>
          <p:nvSpPr>
            <p:cNvPr id="7" name="TextBox 6">
              <a:extLst>
                <a:ext uri="{FF2B5EF4-FFF2-40B4-BE49-F238E27FC236}">
                  <a16:creationId xmlns:a16="http://schemas.microsoft.com/office/drawing/2014/main" id="{27660C40-5F93-BF4F-6105-0CD0581331F8}"/>
                </a:ext>
              </a:extLst>
            </p:cNvPr>
            <p:cNvSpPr txBox="1"/>
            <p:nvPr/>
          </p:nvSpPr>
          <p:spPr>
            <a:xfrm>
              <a:off x="595312" y="4437289"/>
              <a:ext cx="5334000" cy="710707"/>
            </a:xfrm>
            <a:prstGeom prst="rect">
              <a:avLst/>
            </a:prstGeom>
            <a:noFill/>
          </p:spPr>
          <p:txBody>
            <a:bodyPr wrap="square" lIns="0" tIns="0" rIns="0" bIns="0" anchor="t">
              <a:spAutoFit/>
            </a:bodyPr>
            <a:lstStyle/>
            <a:p>
              <a:pPr>
                <a:lnSpc>
                  <a:spcPts val="1920"/>
                </a:lnSpc>
              </a:pPr>
              <a:r>
                <a:rPr lang="en-US" sz="1200" b="1" i="0" u="none" dirty="0">
                  <a:latin typeface="Inter"/>
                </a:rPr>
                <a:t>Class Distribution: </a:t>
              </a:r>
              <a:r>
                <a:rPr lang="en-US" sz="1200" dirty="0"/>
                <a:t>Hypertension prevalence was </a:t>
              </a:r>
              <a:r>
                <a:rPr lang="en-US" sz="1200" b="1" dirty="0"/>
                <a:t>39%</a:t>
              </a:r>
              <a:r>
                <a:rPr lang="en-US" sz="1200" dirty="0"/>
                <a:t>, compared with </a:t>
              </a:r>
              <a:r>
                <a:rPr lang="en-US" sz="1200" b="1" dirty="0"/>
                <a:t>61% without hypertension</a:t>
              </a:r>
              <a:r>
                <a:rPr lang="en-US" sz="1200" dirty="0"/>
                <a:t>. Stratified train/test splitting was used to preserve this class distribution in both datasets. </a:t>
              </a:r>
              <a:endParaRPr sz="1200" b="0" i="0" u="none" dirty="0">
                <a:latin typeface="Inter"/>
              </a:endParaRPr>
            </a:p>
          </p:txBody>
        </p:sp>
        <p:sp>
          <p:nvSpPr>
            <p:cNvPr id="18" name="TextBox 17">
              <a:extLst>
                <a:ext uri="{FF2B5EF4-FFF2-40B4-BE49-F238E27FC236}">
                  <a16:creationId xmlns:a16="http://schemas.microsoft.com/office/drawing/2014/main" id="{47A1CAB6-1055-0D5E-A7DF-4251B75FC119}"/>
                </a:ext>
              </a:extLst>
            </p:cNvPr>
            <p:cNvSpPr txBox="1"/>
            <p:nvPr/>
          </p:nvSpPr>
          <p:spPr>
            <a:xfrm>
              <a:off x="488730" y="2225014"/>
              <a:ext cx="5416770" cy="462464"/>
            </a:xfrm>
            <a:prstGeom prst="rect">
              <a:avLst/>
            </a:prstGeom>
            <a:noFill/>
          </p:spPr>
          <p:txBody>
            <a:bodyPr wrap="square">
              <a:spAutoFit/>
            </a:bodyPr>
            <a:lstStyle/>
            <a:p>
              <a:r>
                <a:rPr lang="en-US" sz="1200" b="1" dirty="0">
                  <a:latin typeface="Inter"/>
                </a:rPr>
                <a:t>Feature Engineering:</a:t>
              </a:r>
              <a:r>
                <a:rPr lang="en-US" sz="1200" dirty="0">
                  <a:latin typeface="Inter"/>
                </a:rPr>
                <a:t> Created income categories and missingness indicators to retain potentially informative patterns in the data.</a:t>
              </a:r>
            </a:p>
          </p:txBody>
        </p:sp>
      </p:grpSp>
    </p:spTree>
    <p:extLst>
      <p:ext uri="{BB962C8B-B14F-4D97-AF65-F5344CB8AC3E}">
        <p14:creationId xmlns:p14="http://schemas.microsoft.com/office/powerpoint/2010/main" val="3546398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1970930"/>
            <a:ext cx="3524250" cy="3554313"/>
          </a:xfrm>
          <a:prstGeom prst="rect">
            <a:avLst/>
          </a:prstGeom>
        </p:spPr>
      </p:pic>
      <p:pic>
        <p:nvPicPr>
          <p:cNvPr id="4" name="Picture 3" descr="image.png"/>
          <p:cNvPicPr>
            <a:picLocks noChangeAspect="1"/>
          </p:cNvPicPr>
          <p:nvPr/>
        </p:nvPicPr>
        <p:blipFill>
          <a:blip r:embed="rId5"/>
          <a:stretch>
            <a:fillRect/>
          </a:stretch>
        </p:blipFill>
        <p:spPr>
          <a:xfrm>
            <a:off x="4333875" y="1970930"/>
            <a:ext cx="3524250" cy="3554313"/>
          </a:xfrm>
          <a:prstGeom prst="rect">
            <a:avLst/>
          </a:prstGeom>
        </p:spPr>
      </p:pic>
      <p:pic>
        <p:nvPicPr>
          <p:cNvPr id="5" name="Picture 4" descr="image.png"/>
          <p:cNvPicPr>
            <a:picLocks noChangeAspect="1"/>
          </p:cNvPicPr>
          <p:nvPr/>
        </p:nvPicPr>
        <p:blipFill>
          <a:blip r:embed="rId6"/>
          <a:stretch>
            <a:fillRect/>
          </a:stretch>
        </p:blipFill>
        <p:spPr>
          <a:xfrm>
            <a:off x="8096250" y="1970930"/>
            <a:ext cx="3524250" cy="3554313"/>
          </a:xfrm>
          <a:prstGeom prst="rect">
            <a:avLst/>
          </a:prstGeom>
        </p:spPr>
      </p:pic>
      <p:pic>
        <p:nvPicPr>
          <p:cNvPr id="6" name="Picture 5" descr="image.png"/>
          <p:cNvPicPr>
            <a:picLocks noChangeAspect="1"/>
          </p:cNvPicPr>
          <p:nvPr/>
        </p:nvPicPr>
        <p:blipFill>
          <a:blip r:embed="rId7"/>
          <a:stretch>
            <a:fillRect/>
          </a:stretch>
        </p:blipFill>
        <p:spPr>
          <a:xfrm>
            <a:off x="866775" y="2266205"/>
            <a:ext cx="571500" cy="571500"/>
          </a:xfrm>
          <a:prstGeom prst="rect">
            <a:avLst/>
          </a:prstGeom>
        </p:spPr>
      </p:pic>
      <p:sp>
        <p:nvSpPr>
          <p:cNvPr id="7" name="TextBox 6"/>
          <p:cNvSpPr txBox="1"/>
          <p:nvPr/>
        </p:nvSpPr>
        <p:spPr>
          <a:xfrm>
            <a:off x="866775" y="3028205"/>
            <a:ext cx="3080385" cy="257175"/>
          </a:xfrm>
          <a:prstGeom prst="rect">
            <a:avLst/>
          </a:prstGeom>
          <a:noFill/>
        </p:spPr>
        <p:txBody>
          <a:bodyPr wrap="square" lIns="0" tIns="0" rIns="0" bIns="0" anchor="t">
            <a:spAutoFit/>
          </a:bodyPr>
          <a:lstStyle/>
          <a:p>
            <a:pPr algn="l"/>
            <a:r>
              <a:rPr sz="1650" b="0" i="0" u="none">
                <a:solidFill>
                  <a:srgbClr val="0B252E"/>
                </a:solidFill>
                <a:latin typeface="Montserrat SemiBold"/>
              </a:rPr>
              <a:t>Logistic Regression</a:t>
            </a:r>
          </a:p>
        </p:txBody>
      </p:sp>
      <p:sp>
        <p:nvSpPr>
          <p:cNvPr id="8" name="TextBox 7"/>
          <p:cNvSpPr txBox="1"/>
          <p:nvPr/>
        </p:nvSpPr>
        <p:spPr>
          <a:xfrm>
            <a:off x="866775" y="3380630"/>
            <a:ext cx="2933700" cy="731341"/>
          </a:xfrm>
          <a:prstGeom prst="rect">
            <a:avLst/>
          </a:prstGeom>
          <a:noFill/>
        </p:spPr>
        <p:txBody>
          <a:bodyPr wrap="square" lIns="0" tIns="0" rIns="0" bIns="0" anchor="t">
            <a:spAutoFit/>
          </a:bodyPr>
          <a:lstStyle/>
          <a:p>
            <a:pPr algn="l">
              <a:lnSpc>
                <a:spcPts val="1920"/>
              </a:lnSpc>
            </a:pPr>
            <a:r>
              <a:rPr sz="1200" b="0" i="0" u="none" dirty="0">
                <a:latin typeface="Inter"/>
              </a:rPr>
              <a:t>Selected as our core baseline classifier due to its superior interpretability and rapid training cycle.</a:t>
            </a:r>
          </a:p>
        </p:txBody>
      </p:sp>
      <p:sp>
        <p:nvSpPr>
          <p:cNvPr id="9" name="TextBox 8"/>
          <p:cNvSpPr txBox="1"/>
          <p:nvPr/>
        </p:nvSpPr>
        <p:spPr>
          <a:xfrm>
            <a:off x="866775" y="4254847"/>
            <a:ext cx="2933700" cy="467051"/>
          </a:xfrm>
          <a:prstGeom prst="rect">
            <a:avLst/>
          </a:prstGeom>
          <a:noFill/>
        </p:spPr>
        <p:txBody>
          <a:bodyPr wrap="square" lIns="0" tIns="0" rIns="0" bIns="0" anchor="t">
            <a:spAutoFit/>
          </a:bodyPr>
          <a:lstStyle/>
          <a:p>
            <a:pPr algn="l">
              <a:lnSpc>
                <a:spcPts val="1920"/>
              </a:lnSpc>
            </a:pPr>
            <a:r>
              <a:rPr sz="1200" b="0" i="0" u="none" dirty="0">
                <a:latin typeface="Inter"/>
              </a:rPr>
              <a:t>Provides highly transparent, mathematical feature weights of individual predictor impacts.</a:t>
            </a:r>
          </a:p>
        </p:txBody>
      </p:sp>
      <p:pic>
        <p:nvPicPr>
          <p:cNvPr id="10" name="Picture 9" descr="image.png"/>
          <p:cNvPicPr>
            <a:picLocks noChangeAspect="1"/>
          </p:cNvPicPr>
          <p:nvPr/>
        </p:nvPicPr>
        <p:blipFill>
          <a:blip r:embed="rId8"/>
          <a:stretch>
            <a:fillRect/>
          </a:stretch>
        </p:blipFill>
        <p:spPr>
          <a:xfrm>
            <a:off x="4629150" y="2266205"/>
            <a:ext cx="571500" cy="571500"/>
          </a:xfrm>
          <a:prstGeom prst="rect">
            <a:avLst/>
          </a:prstGeom>
        </p:spPr>
      </p:pic>
      <p:sp>
        <p:nvSpPr>
          <p:cNvPr id="11" name="TextBox 10"/>
          <p:cNvSpPr txBox="1"/>
          <p:nvPr/>
        </p:nvSpPr>
        <p:spPr>
          <a:xfrm>
            <a:off x="4629150" y="3028205"/>
            <a:ext cx="3080385" cy="257175"/>
          </a:xfrm>
          <a:prstGeom prst="rect">
            <a:avLst/>
          </a:prstGeom>
          <a:noFill/>
        </p:spPr>
        <p:txBody>
          <a:bodyPr wrap="square" lIns="0" tIns="0" rIns="0" bIns="0" anchor="t">
            <a:spAutoFit/>
          </a:bodyPr>
          <a:lstStyle/>
          <a:p>
            <a:pPr algn="l"/>
            <a:r>
              <a:rPr sz="1650" b="0" i="0" u="none">
                <a:solidFill>
                  <a:srgbClr val="0B252E"/>
                </a:solidFill>
                <a:latin typeface="Montserrat SemiBold"/>
              </a:rPr>
              <a:t>Decision Tree</a:t>
            </a:r>
          </a:p>
        </p:txBody>
      </p:sp>
      <p:sp>
        <p:nvSpPr>
          <p:cNvPr id="12" name="TextBox 11"/>
          <p:cNvSpPr txBox="1"/>
          <p:nvPr/>
        </p:nvSpPr>
        <p:spPr>
          <a:xfrm>
            <a:off x="4629150" y="3380630"/>
            <a:ext cx="2933700" cy="731341"/>
          </a:xfrm>
          <a:prstGeom prst="rect">
            <a:avLst/>
          </a:prstGeom>
          <a:noFill/>
        </p:spPr>
        <p:txBody>
          <a:bodyPr wrap="square" lIns="0" tIns="0" rIns="0" bIns="0" anchor="t">
            <a:spAutoFit/>
          </a:bodyPr>
          <a:lstStyle/>
          <a:p>
            <a:pPr algn="l">
              <a:lnSpc>
                <a:spcPts val="1920"/>
              </a:lnSpc>
            </a:pPr>
            <a:r>
              <a:rPr sz="1200" b="0" i="0" u="none" dirty="0">
                <a:latin typeface="Inter"/>
              </a:rPr>
              <a:t>Implemented to map complex, non-linear feature pathways and interactions without imposing statistical assumptions.</a:t>
            </a:r>
          </a:p>
        </p:txBody>
      </p:sp>
      <p:sp>
        <p:nvSpPr>
          <p:cNvPr id="13" name="TextBox 12"/>
          <p:cNvSpPr txBox="1"/>
          <p:nvPr/>
        </p:nvSpPr>
        <p:spPr>
          <a:xfrm>
            <a:off x="4629150" y="4254847"/>
            <a:ext cx="2933700" cy="467051"/>
          </a:xfrm>
          <a:prstGeom prst="rect">
            <a:avLst/>
          </a:prstGeom>
          <a:noFill/>
        </p:spPr>
        <p:txBody>
          <a:bodyPr wrap="square" lIns="0" tIns="0" rIns="0" bIns="0" anchor="t">
            <a:spAutoFit/>
          </a:bodyPr>
          <a:lstStyle/>
          <a:p>
            <a:pPr algn="l">
              <a:lnSpc>
                <a:spcPts val="1920"/>
              </a:lnSpc>
            </a:pPr>
            <a:r>
              <a:rPr sz="1200" b="0" i="0" u="none" dirty="0">
                <a:latin typeface="Inter"/>
              </a:rPr>
              <a:t>Tuned via </a:t>
            </a:r>
            <a:r>
              <a:rPr sz="1200" b="0" i="0" u="none" dirty="0" err="1">
                <a:latin typeface="Inter"/>
              </a:rPr>
              <a:t>GridSearchCV</a:t>
            </a:r>
            <a:r>
              <a:rPr sz="1200" b="0" i="0" u="none" dirty="0">
                <a:latin typeface="Inter"/>
              </a:rPr>
              <a:t> to optimize pruning depth and prevent overfitting.</a:t>
            </a:r>
          </a:p>
        </p:txBody>
      </p:sp>
      <p:pic>
        <p:nvPicPr>
          <p:cNvPr id="14" name="Picture 13" descr="image.png"/>
          <p:cNvPicPr>
            <a:picLocks noChangeAspect="1"/>
          </p:cNvPicPr>
          <p:nvPr/>
        </p:nvPicPr>
        <p:blipFill>
          <a:blip r:embed="rId9"/>
          <a:stretch>
            <a:fillRect/>
          </a:stretch>
        </p:blipFill>
        <p:spPr>
          <a:xfrm>
            <a:off x="8391525" y="2266205"/>
            <a:ext cx="571500" cy="571500"/>
          </a:xfrm>
          <a:prstGeom prst="rect">
            <a:avLst/>
          </a:prstGeom>
        </p:spPr>
      </p:pic>
      <p:sp>
        <p:nvSpPr>
          <p:cNvPr id="15" name="TextBox 14"/>
          <p:cNvSpPr txBox="1"/>
          <p:nvPr/>
        </p:nvSpPr>
        <p:spPr>
          <a:xfrm>
            <a:off x="8391525" y="3028205"/>
            <a:ext cx="3080385" cy="257175"/>
          </a:xfrm>
          <a:prstGeom prst="rect">
            <a:avLst/>
          </a:prstGeom>
          <a:noFill/>
        </p:spPr>
        <p:txBody>
          <a:bodyPr wrap="square" lIns="0" tIns="0" rIns="0" bIns="0" anchor="t">
            <a:spAutoFit/>
          </a:bodyPr>
          <a:lstStyle/>
          <a:p>
            <a:pPr algn="l"/>
            <a:r>
              <a:rPr sz="1650" b="0" i="0" u="none">
                <a:solidFill>
                  <a:srgbClr val="0B252E"/>
                </a:solidFill>
                <a:latin typeface="Montserrat SemiBold"/>
              </a:rPr>
              <a:t>Random Forest</a:t>
            </a:r>
          </a:p>
        </p:txBody>
      </p:sp>
      <p:sp>
        <p:nvSpPr>
          <p:cNvPr id="16" name="TextBox 15"/>
          <p:cNvSpPr txBox="1"/>
          <p:nvPr/>
        </p:nvSpPr>
        <p:spPr>
          <a:xfrm>
            <a:off x="8391525" y="3380630"/>
            <a:ext cx="2933700" cy="710707"/>
          </a:xfrm>
          <a:prstGeom prst="rect">
            <a:avLst/>
          </a:prstGeom>
          <a:noFill/>
        </p:spPr>
        <p:txBody>
          <a:bodyPr wrap="square" lIns="0" tIns="0" rIns="0" bIns="0" anchor="t">
            <a:spAutoFit/>
          </a:bodyPr>
          <a:lstStyle/>
          <a:p>
            <a:pPr algn="l">
              <a:lnSpc>
                <a:spcPts val="1920"/>
              </a:lnSpc>
            </a:pPr>
            <a:r>
              <a:rPr sz="1200" b="0" i="0" u="none" dirty="0">
                <a:latin typeface="Inter"/>
              </a:rPr>
              <a:t>Selected as our premium ensemble </a:t>
            </a:r>
            <a:r>
              <a:rPr lang="en-US" sz="1200" dirty="0">
                <a:latin typeface="Inter"/>
              </a:rPr>
              <a:t>architecture</a:t>
            </a:r>
            <a:r>
              <a:rPr sz="1200" b="0" i="0" u="none" dirty="0">
                <a:latin typeface="Inter"/>
              </a:rPr>
              <a:t>, training multiple independent estimators to lower overall variance.</a:t>
            </a:r>
          </a:p>
        </p:txBody>
      </p:sp>
      <p:sp>
        <p:nvSpPr>
          <p:cNvPr id="17" name="TextBox 16"/>
          <p:cNvSpPr txBox="1"/>
          <p:nvPr/>
        </p:nvSpPr>
        <p:spPr>
          <a:xfrm>
            <a:off x="8391525" y="4498627"/>
            <a:ext cx="2933700" cy="731341"/>
          </a:xfrm>
          <a:prstGeom prst="rect">
            <a:avLst/>
          </a:prstGeom>
          <a:noFill/>
        </p:spPr>
        <p:txBody>
          <a:bodyPr wrap="square" lIns="0" tIns="0" rIns="0" bIns="0" anchor="t">
            <a:spAutoFit/>
          </a:bodyPr>
          <a:lstStyle/>
          <a:p>
            <a:pPr algn="l">
              <a:lnSpc>
                <a:spcPts val="1920"/>
              </a:lnSpc>
            </a:pPr>
            <a:r>
              <a:rPr sz="1200" b="0" i="0" u="none" dirty="0">
                <a:latin typeface="Inter"/>
              </a:rPr>
              <a:t>Optimized using </a:t>
            </a:r>
            <a:r>
              <a:rPr sz="1200" b="0" i="0" u="none" dirty="0" err="1">
                <a:latin typeface="Inter"/>
              </a:rPr>
              <a:t>RandomizedSearchCV</a:t>
            </a:r>
            <a:r>
              <a:rPr sz="1200" b="0" i="0" u="none" dirty="0">
                <a:latin typeface="Inter"/>
              </a:rPr>
              <a:t> to identify peak splits across hundreds of estimators.</a:t>
            </a:r>
          </a:p>
        </p:txBody>
      </p:sp>
      <p:pic>
        <p:nvPicPr>
          <p:cNvPr id="18" name="Picture 17" descr="image.png"/>
          <p:cNvPicPr>
            <a:picLocks noChangeAspect="1"/>
          </p:cNvPicPr>
          <p:nvPr/>
        </p:nvPicPr>
        <p:blipFill>
          <a:blip r:embed="rId10"/>
          <a:stretch>
            <a:fillRect/>
          </a:stretch>
        </p:blipFill>
        <p:spPr>
          <a:xfrm>
            <a:off x="1000125" y="2399555"/>
            <a:ext cx="304800" cy="304800"/>
          </a:xfrm>
          <a:prstGeom prst="rect">
            <a:avLst/>
          </a:prstGeom>
        </p:spPr>
      </p:pic>
      <p:pic>
        <p:nvPicPr>
          <p:cNvPr id="19" name="Picture 18" descr="image.png"/>
          <p:cNvPicPr>
            <a:picLocks noChangeAspect="1"/>
          </p:cNvPicPr>
          <p:nvPr/>
        </p:nvPicPr>
        <p:blipFill>
          <a:blip r:embed="rId11"/>
          <a:stretch>
            <a:fillRect/>
          </a:stretch>
        </p:blipFill>
        <p:spPr>
          <a:xfrm>
            <a:off x="4724400" y="2399555"/>
            <a:ext cx="381000" cy="304800"/>
          </a:xfrm>
          <a:prstGeom prst="rect">
            <a:avLst/>
          </a:prstGeom>
        </p:spPr>
      </p:pic>
      <p:pic>
        <p:nvPicPr>
          <p:cNvPr id="20" name="Picture 19" descr="image.png"/>
          <p:cNvPicPr>
            <a:picLocks noChangeAspect="1"/>
          </p:cNvPicPr>
          <p:nvPr/>
        </p:nvPicPr>
        <p:blipFill>
          <a:blip r:embed="rId12"/>
          <a:stretch>
            <a:fillRect/>
          </a:stretch>
        </p:blipFill>
        <p:spPr>
          <a:xfrm>
            <a:off x="6238875" y="3077021"/>
            <a:ext cx="542925" cy="190500"/>
          </a:xfrm>
          <a:prstGeom prst="rect">
            <a:avLst/>
          </a:prstGeom>
        </p:spPr>
      </p:pic>
      <p:pic>
        <p:nvPicPr>
          <p:cNvPr id="21" name="Picture 20" descr="image.png"/>
          <p:cNvPicPr>
            <a:picLocks noChangeAspect="1"/>
          </p:cNvPicPr>
          <p:nvPr/>
        </p:nvPicPr>
        <p:blipFill>
          <a:blip r:embed="rId13"/>
          <a:stretch>
            <a:fillRect/>
          </a:stretch>
        </p:blipFill>
        <p:spPr>
          <a:xfrm>
            <a:off x="8543925" y="2399555"/>
            <a:ext cx="266700" cy="304800"/>
          </a:xfrm>
          <a:prstGeom prst="rect">
            <a:avLst/>
          </a:prstGeom>
        </p:spPr>
      </p:pic>
      <p:pic>
        <p:nvPicPr>
          <p:cNvPr id="22" name="Picture 21" descr="image.png"/>
          <p:cNvPicPr>
            <a:picLocks noChangeAspect="1"/>
          </p:cNvPicPr>
          <p:nvPr/>
        </p:nvPicPr>
        <p:blipFill>
          <a:blip r:embed="rId14"/>
          <a:stretch>
            <a:fillRect/>
          </a:stretch>
        </p:blipFill>
        <p:spPr>
          <a:xfrm>
            <a:off x="10191750" y="3077021"/>
            <a:ext cx="542925" cy="190500"/>
          </a:xfrm>
          <a:prstGeom prst="rect">
            <a:avLst/>
          </a:prstGeom>
        </p:spPr>
      </p:pic>
      <p:sp>
        <p:nvSpPr>
          <p:cNvPr id="23" name="TextBox 22"/>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Machine Learning Architecture</a:t>
            </a:r>
          </a:p>
        </p:txBody>
      </p:sp>
      <p:sp>
        <p:nvSpPr>
          <p:cNvPr id="24" name="Rectangle 23"/>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FB1D99BA-D0CC-A594-E2DB-A350F4804B63}"/>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E27F290-1404-DA9E-A64F-1074BCC4681D}"/>
              </a:ext>
            </a:extLst>
          </p:cNvPr>
          <p:cNvPicPr>
            <a:picLocks noChangeAspect="1"/>
          </p:cNvPicPr>
          <p:nvPr/>
        </p:nvPicPr>
        <p:blipFill>
          <a:blip r:embed="rId3"/>
          <a:stretch>
            <a:fillRect/>
          </a:stretch>
        </p:blipFill>
        <p:spPr>
          <a:xfrm>
            <a:off x="0" y="0"/>
            <a:ext cx="12192000" cy="6858000"/>
          </a:xfrm>
          <a:prstGeom prst="rect">
            <a:avLst/>
          </a:prstGeom>
        </p:spPr>
      </p:pic>
      <p:pic>
        <p:nvPicPr>
          <p:cNvPr id="14" name="Picture 13" descr="image.png">
            <a:extLst>
              <a:ext uri="{FF2B5EF4-FFF2-40B4-BE49-F238E27FC236}">
                <a16:creationId xmlns:a16="http://schemas.microsoft.com/office/drawing/2014/main" id="{0531DB65-CAE9-0032-B64C-729A3B152CB5}"/>
              </a:ext>
            </a:extLst>
          </p:cNvPr>
          <p:cNvPicPr>
            <a:picLocks noChangeAspect="1"/>
          </p:cNvPicPr>
          <p:nvPr/>
        </p:nvPicPr>
        <p:blipFill>
          <a:blip r:embed="rId4"/>
          <a:stretch>
            <a:fillRect/>
          </a:stretch>
        </p:blipFill>
        <p:spPr>
          <a:xfrm>
            <a:off x="8391525" y="2266205"/>
            <a:ext cx="571500" cy="571500"/>
          </a:xfrm>
          <a:prstGeom prst="rect">
            <a:avLst/>
          </a:prstGeom>
        </p:spPr>
      </p:pic>
      <p:grpSp>
        <p:nvGrpSpPr>
          <p:cNvPr id="26" name="Group 25">
            <a:extLst>
              <a:ext uri="{FF2B5EF4-FFF2-40B4-BE49-F238E27FC236}">
                <a16:creationId xmlns:a16="http://schemas.microsoft.com/office/drawing/2014/main" id="{18B3089B-D9CE-C50B-77A1-EDFB21F59101}"/>
              </a:ext>
            </a:extLst>
          </p:cNvPr>
          <p:cNvGrpSpPr/>
          <p:nvPr/>
        </p:nvGrpSpPr>
        <p:grpSpPr>
          <a:xfrm>
            <a:off x="1457325" y="1781460"/>
            <a:ext cx="3524250" cy="3554313"/>
            <a:chOff x="4333875" y="1970930"/>
            <a:chExt cx="3524250" cy="3554313"/>
          </a:xfrm>
        </p:grpSpPr>
        <p:pic>
          <p:nvPicPr>
            <p:cNvPr id="4" name="Picture 3" descr="image.png">
              <a:extLst>
                <a:ext uri="{FF2B5EF4-FFF2-40B4-BE49-F238E27FC236}">
                  <a16:creationId xmlns:a16="http://schemas.microsoft.com/office/drawing/2014/main" id="{670F6084-0707-1881-BE0F-81491C1F061A}"/>
                </a:ext>
              </a:extLst>
            </p:cNvPr>
            <p:cNvPicPr>
              <a:picLocks noChangeAspect="1"/>
            </p:cNvPicPr>
            <p:nvPr/>
          </p:nvPicPr>
          <p:blipFill>
            <a:blip r:embed="rId5"/>
            <a:stretch>
              <a:fillRect/>
            </a:stretch>
          </p:blipFill>
          <p:spPr>
            <a:xfrm>
              <a:off x="4333875" y="1970930"/>
              <a:ext cx="3524250" cy="3554313"/>
            </a:xfrm>
            <a:prstGeom prst="rect">
              <a:avLst/>
            </a:prstGeom>
          </p:spPr>
        </p:pic>
        <p:sp>
          <p:nvSpPr>
            <p:cNvPr id="11" name="TextBox 10">
              <a:extLst>
                <a:ext uri="{FF2B5EF4-FFF2-40B4-BE49-F238E27FC236}">
                  <a16:creationId xmlns:a16="http://schemas.microsoft.com/office/drawing/2014/main" id="{A959DD50-D1B2-739F-F60A-B697CE1693B2}"/>
                </a:ext>
              </a:extLst>
            </p:cNvPr>
            <p:cNvSpPr txBox="1"/>
            <p:nvPr/>
          </p:nvSpPr>
          <p:spPr>
            <a:xfrm>
              <a:off x="4629150" y="2266576"/>
              <a:ext cx="3080385" cy="257175"/>
            </a:xfrm>
            <a:prstGeom prst="rect">
              <a:avLst/>
            </a:prstGeom>
            <a:noFill/>
          </p:spPr>
          <p:txBody>
            <a:bodyPr wrap="square" lIns="0" tIns="0" rIns="0" bIns="0" anchor="t">
              <a:spAutoFit/>
            </a:bodyPr>
            <a:lstStyle/>
            <a:p>
              <a:pPr algn="l"/>
              <a:r>
                <a:rPr sz="1650" b="0" i="0" u="none" dirty="0">
                  <a:solidFill>
                    <a:srgbClr val="0B252E"/>
                  </a:solidFill>
                  <a:latin typeface="Montserrat SemiBold"/>
                </a:rPr>
                <a:t>Decision Tree</a:t>
              </a:r>
            </a:p>
          </p:txBody>
        </p:sp>
      </p:grpSp>
      <p:sp>
        <p:nvSpPr>
          <p:cNvPr id="23" name="TextBox 22">
            <a:extLst>
              <a:ext uri="{FF2B5EF4-FFF2-40B4-BE49-F238E27FC236}">
                <a16:creationId xmlns:a16="http://schemas.microsoft.com/office/drawing/2014/main" id="{73A0C55B-24A9-F5B3-86DD-1D1A91F97728}"/>
              </a:ext>
            </a:extLst>
          </p:cNvPr>
          <p:cNvSpPr txBox="1"/>
          <p:nvPr/>
        </p:nvSpPr>
        <p:spPr>
          <a:xfrm>
            <a:off x="714375" y="571500"/>
            <a:ext cx="11451431" cy="400050"/>
          </a:xfrm>
          <a:prstGeom prst="rect">
            <a:avLst/>
          </a:prstGeom>
          <a:noFill/>
        </p:spPr>
        <p:txBody>
          <a:bodyPr wrap="square" lIns="0" tIns="0" rIns="0" bIns="0" anchor="t">
            <a:spAutoFit/>
          </a:bodyPr>
          <a:lstStyle/>
          <a:p>
            <a:pPr algn="l"/>
            <a:r>
              <a:rPr lang="en-US" sz="2550" b="1" i="0" u="none" dirty="0">
                <a:solidFill>
                  <a:srgbClr val="0B252E"/>
                </a:solidFill>
                <a:latin typeface="Montserrat"/>
              </a:rPr>
              <a:t>Hyperparameter Tuning Strategy</a:t>
            </a:r>
            <a:endParaRPr sz="2550" b="1" i="0" u="none" dirty="0">
              <a:solidFill>
                <a:srgbClr val="0B252E"/>
              </a:solidFill>
              <a:latin typeface="Montserrat"/>
            </a:endParaRPr>
          </a:p>
        </p:txBody>
      </p:sp>
      <p:sp>
        <p:nvSpPr>
          <p:cNvPr id="24" name="Rectangle 23">
            <a:extLst>
              <a:ext uri="{FF2B5EF4-FFF2-40B4-BE49-F238E27FC236}">
                <a16:creationId xmlns:a16="http://schemas.microsoft.com/office/drawing/2014/main" id="{25FC3C53-A4CE-E7B0-1A54-75D84261BC78}"/>
              </a:ext>
            </a:extLst>
          </p:cNvPr>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7BF9ACBD-551B-087D-AF69-DBC7B7EF81C6}"/>
              </a:ext>
            </a:extLst>
          </p:cNvPr>
          <p:cNvSpPr txBox="1"/>
          <p:nvPr/>
        </p:nvSpPr>
        <p:spPr>
          <a:xfrm>
            <a:off x="1659577" y="2483979"/>
            <a:ext cx="2104901" cy="830997"/>
          </a:xfrm>
          <a:prstGeom prst="rect">
            <a:avLst/>
          </a:prstGeom>
          <a:noFill/>
        </p:spPr>
        <p:txBody>
          <a:bodyPr wrap="square">
            <a:spAutoFit/>
          </a:bodyPr>
          <a:lstStyle/>
          <a:p>
            <a:r>
              <a:rPr lang="en-US" sz="1200" dirty="0">
                <a:latin typeface="Inter"/>
              </a:rPr>
              <a:t>Executed automated parameter tuning using </a:t>
            </a:r>
            <a:r>
              <a:rPr lang="en-US" sz="1200" dirty="0" err="1">
                <a:latin typeface="Inter"/>
              </a:rPr>
              <a:t>GridSearchCV</a:t>
            </a:r>
            <a:r>
              <a:rPr lang="en-US" sz="1200" dirty="0">
                <a:latin typeface="Inter"/>
              </a:rPr>
              <a:t> for the Decision Tree model</a:t>
            </a:r>
          </a:p>
        </p:txBody>
      </p:sp>
      <p:sp>
        <p:nvSpPr>
          <p:cNvPr id="31" name="TextBox 30">
            <a:extLst>
              <a:ext uri="{FF2B5EF4-FFF2-40B4-BE49-F238E27FC236}">
                <a16:creationId xmlns:a16="http://schemas.microsoft.com/office/drawing/2014/main" id="{8A3785B1-D58D-277D-E9A6-7337B4AFF3FF}"/>
              </a:ext>
            </a:extLst>
          </p:cNvPr>
          <p:cNvSpPr txBox="1"/>
          <p:nvPr/>
        </p:nvSpPr>
        <p:spPr>
          <a:xfrm>
            <a:off x="1684675" y="3373361"/>
            <a:ext cx="2793670" cy="461665"/>
          </a:xfrm>
          <a:prstGeom prst="rect">
            <a:avLst/>
          </a:prstGeom>
          <a:noFill/>
        </p:spPr>
        <p:txBody>
          <a:bodyPr wrap="square">
            <a:spAutoFit/>
          </a:bodyPr>
          <a:lstStyle/>
          <a:p>
            <a:r>
              <a:rPr lang="en-US" sz="1200" dirty="0">
                <a:latin typeface="Inter"/>
              </a:rPr>
              <a:t>Evaluated for criterion, </a:t>
            </a:r>
            <a:r>
              <a:rPr lang="en-US" sz="1200" dirty="0" err="1">
                <a:latin typeface="Inter"/>
              </a:rPr>
              <a:t>max_depth</a:t>
            </a:r>
            <a:r>
              <a:rPr lang="en-US" sz="1200" dirty="0">
                <a:latin typeface="Inter"/>
              </a:rPr>
              <a:t>, </a:t>
            </a:r>
            <a:r>
              <a:rPr lang="en-US" sz="1200" dirty="0" err="1">
                <a:latin typeface="Inter"/>
              </a:rPr>
              <a:t>min_samples_split</a:t>
            </a:r>
            <a:r>
              <a:rPr lang="en-US" sz="1200" dirty="0">
                <a:latin typeface="Inter"/>
              </a:rPr>
              <a:t>, </a:t>
            </a:r>
            <a:r>
              <a:rPr lang="en-US" sz="1200" dirty="0" err="1">
                <a:latin typeface="Inter"/>
              </a:rPr>
              <a:t>min_samples_leaf</a:t>
            </a:r>
            <a:endParaRPr lang="en-US" sz="1200" dirty="0">
              <a:latin typeface="Inter"/>
            </a:endParaRPr>
          </a:p>
        </p:txBody>
      </p:sp>
      <p:sp>
        <p:nvSpPr>
          <p:cNvPr id="33" name="TextBox 32">
            <a:extLst>
              <a:ext uri="{FF2B5EF4-FFF2-40B4-BE49-F238E27FC236}">
                <a16:creationId xmlns:a16="http://schemas.microsoft.com/office/drawing/2014/main" id="{7D45FEE3-1282-6381-79F3-DC803EF72204}"/>
              </a:ext>
            </a:extLst>
          </p:cNvPr>
          <p:cNvSpPr txBox="1"/>
          <p:nvPr/>
        </p:nvSpPr>
        <p:spPr>
          <a:xfrm>
            <a:off x="1659577" y="4017495"/>
            <a:ext cx="2793670" cy="1015663"/>
          </a:xfrm>
          <a:prstGeom prst="rect">
            <a:avLst/>
          </a:prstGeom>
          <a:noFill/>
        </p:spPr>
        <p:txBody>
          <a:bodyPr wrap="square">
            <a:spAutoFit/>
          </a:bodyPr>
          <a:lstStyle/>
          <a:p>
            <a:r>
              <a:rPr lang="en-US" sz="1200" dirty="0">
                <a:latin typeface="Inter"/>
              </a:rPr>
              <a:t>Best parameters: </a:t>
            </a:r>
          </a:p>
          <a:p>
            <a:r>
              <a:rPr lang="en-US" sz="1200" dirty="0">
                <a:latin typeface="Inter"/>
              </a:rPr>
              <a:t>Criterion – Entropy</a:t>
            </a:r>
          </a:p>
          <a:p>
            <a:r>
              <a:rPr lang="en-US" sz="1200" dirty="0" err="1">
                <a:latin typeface="Inter"/>
              </a:rPr>
              <a:t>Max_depth</a:t>
            </a:r>
            <a:r>
              <a:rPr lang="en-US" sz="1200" dirty="0">
                <a:latin typeface="Inter"/>
              </a:rPr>
              <a:t> – 10</a:t>
            </a:r>
          </a:p>
          <a:p>
            <a:r>
              <a:rPr lang="en-US" sz="1200" dirty="0" err="1">
                <a:latin typeface="Inter"/>
              </a:rPr>
              <a:t>Min_samples_lead</a:t>
            </a:r>
            <a:r>
              <a:rPr lang="en-US" sz="1200" dirty="0">
                <a:latin typeface="Inter"/>
              </a:rPr>
              <a:t> – 10</a:t>
            </a:r>
          </a:p>
          <a:p>
            <a:r>
              <a:rPr lang="en-US" sz="1200" dirty="0" err="1">
                <a:latin typeface="Inter"/>
              </a:rPr>
              <a:t>Min_samples_split</a:t>
            </a:r>
            <a:r>
              <a:rPr lang="en-US" sz="1200" dirty="0">
                <a:latin typeface="Inter"/>
              </a:rPr>
              <a:t> - 10</a:t>
            </a:r>
          </a:p>
        </p:txBody>
      </p:sp>
      <p:grpSp>
        <p:nvGrpSpPr>
          <p:cNvPr id="42" name="Group 41">
            <a:extLst>
              <a:ext uri="{FF2B5EF4-FFF2-40B4-BE49-F238E27FC236}">
                <a16:creationId xmlns:a16="http://schemas.microsoft.com/office/drawing/2014/main" id="{0865366D-6B5D-D19E-7154-4E90E50BA67F}"/>
              </a:ext>
            </a:extLst>
          </p:cNvPr>
          <p:cNvGrpSpPr/>
          <p:nvPr/>
        </p:nvGrpSpPr>
        <p:grpSpPr>
          <a:xfrm>
            <a:off x="6264110" y="1781460"/>
            <a:ext cx="3524250" cy="3862936"/>
            <a:chOff x="6781800" y="1816551"/>
            <a:chExt cx="3524250" cy="3862936"/>
          </a:xfrm>
        </p:grpSpPr>
        <p:grpSp>
          <p:nvGrpSpPr>
            <p:cNvPr id="27" name="Group 26">
              <a:extLst>
                <a:ext uri="{FF2B5EF4-FFF2-40B4-BE49-F238E27FC236}">
                  <a16:creationId xmlns:a16="http://schemas.microsoft.com/office/drawing/2014/main" id="{106B73C1-BFC9-21F9-3507-437EFDC98238}"/>
                </a:ext>
              </a:extLst>
            </p:cNvPr>
            <p:cNvGrpSpPr/>
            <p:nvPr/>
          </p:nvGrpSpPr>
          <p:grpSpPr>
            <a:xfrm>
              <a:off x="6781800" y="1816551"/>
              <a:ext cx="3524250" cy="3554313"/>
              <a:chOff x="8096250" y="1970930"/>
              <a:chExt cx="3524250" cy="3554313"/>
            </a:xfrm>
          </p:grpSpPr>
          <p:pic>
            <p:nvPicPr>
              <p:cNvPr id="5" name="Picture 4" descr="image.png">
                <a:extLst>
                  <a:ext uri="{FF2B5EF4-FFF2-40B4-BE49-F238E27FC236}">
                    <a16:creationId xmlns:a16="http://schemas.microsoft.com/office/drawing/2014/main" id="{5236E86F-83DB-5821-07C9-BCEC9A937939}"/>
                  </a:ext>
                </a:extLst>
              </p:cNvPr>
              <p:cNvPicPr>
                <a:picLocks noChangeAspect="1"/>
              </p:cNvPicPr>
              <p:nvPr/>
            </p:nvPicPr>
            <p:blipFill>
              <a:blip r:embed="rId6"/>
              <a:stretch>
                <a:fillRect/>
              </a:stretch>
            </p:blipFill>
            <p:spPr>
              <a:xfrm>
                <a:off x="8096250" y="1970930"/>
                <a:ext cx="3524250" cy="3554313"/>
              </a:xfrm>
              <a:prstGeom prst="rect">
                <a:avLst/>
              </a:prstGeom>
            </p:spPr>
          </p:pic>
          <p:sp>
            <p:nvSpPr>
              <p:cNvPr id="15" name="TextBox 14">
                <a:extLst>
                  <a:ext uri="{FF2B5EF4-FFF2-40B4-BE49-F238E27FC236}">
                    <a16:creationId xmlns:a16="http://schemas.microsoft.com/office/drawing/2014/main" id="{AD45C63F-4FC1-E554-9E75-56819CD513E8}"/>
                  </a:ext>
                </a:extLst>
              </p:cNvPr>
              <p:cNvSpPr txBox="1"/>
              <p:nvPr/>
            </p:nvSpPr>
            <p:spPr>
              <a:xfrm>
                <a:off x="8391525" y="2266078"/>
                <a:ext cx="3080385" cy="257175"/>
              </a:xfrm>
              <a:prstGeom prst="rect">
                <a:avLst/>
              </a:prstGeom>
              <a:noFill/>
            </p:spPr>
            <p:txBody>
              <a:bodyPr wrap="square" lIns="0" tIns="0" rIns="0" bIns="0" anchor="t">
                <a:spAutoFit/>
              </a:bodyPr>
              <a:lstStyle/>
              <a:p>
                <a:pPr algn="l"/>
                <a:r>
                  <a:rPr sz="1650" b="0" i="0" u="none" dirty="0">
                    <a:solidFill>
                      <a:srgbClr val="0B252E"/>
                    </a:solidFill>
                    <a:latin typeface="Montserrat SemiBold"/>
                  </a:rPr>
                  <a:t>Random Forest</a:t>
                </a:r>
              </a:p>
            </p:txBody>
          </p:sp>
        </p:grpSp>
        <p:sp>
          <p:nvSpPr>
            <p:cNvPr id="35" name="TextBox 34">
              <a:extLst>
                <a:ext uri="{FF2B5EF4-FFF2-40B4-BE49-F238E27FC236}">
                  <a16:creationId xmlns:a16="http://schemas.microsoft.com/office/drawing/2014/main" id="{5F6D3A27-2285-4E33-1464-EAA26B6E3631}"/>
                </a:ext>
              </a:extLst>
            </p:cNvPr>
            <p:cNvSpPr txBox="1"/>
            <p:nvPr/>
          </p:nvSpPr>
          <p:spPr>
            <a:xfrm>
              <a:off x="6993948" y="2483979"/>
              <a:ext cx="2104901" cy="830997"/>
            </a:xfrm>
            <a:prstGeom prst="rect">
              <a:avLst/>
            </a:prstGeom>
            <a:noFill/>
          </p:spPr>
          <p:txBody>
            <a:bodyPr wrap="square">
              <a:spAutoFit/>
            </a:bodyPr>
            <a:lstStyle/>
            <a:p>
              <a:r>
                <a:rPr lang="en-US" sz="1200" dirty="0">
                  <a:latin typeface="Inter"/>
                </a:rPr>
                <a:t>Executed automated parameter tuning using </a:t>
              </a:r>
              <a:r>
                <a:rPr lang="en-US" sz="1200" dirty="0" err="1"/>
                <a:t>RandomizedSearchCV</a:t>
              </a:r>
              <a:r>
                <a:rPr lang="en-US" sz="1200" dirty="0">
                  <a:latin typeface="Inter"/>
                </a:rPr>
                <a:t> for the Random Forese model</a:t>
              </a:r>
            </a:p>
          </p:txBody>
        </p:sp>
        <p:sp>
          <p:nvSpPr>
            <p:cNvPr id="39" name="TextBox 38">
              <a:extLst>
                <a:ext uri="{FF2B5EF4-FFF2-40B4-BE49-F238E27FC236}">
                  <a16:creationId xmlns:a16="http://schemas.microsoft.com/office/drawing/2014/main" id="{AED7F485-BBA4-758B-9B7D-F7A962EE5154}"/>
                </a:ext>
              </a:extLst>
            </p:cNvPr>
            <p:cNvSpPr txBox="1"/>
            <p:nvPr/>
          </p:nvSpPr>
          <p:spPr>
            <a:xfrm>
              <a:off x="6994690" y="3373361"/>
              <a:ext cx="2793670" cy="830997"/>
            </a:xfrm>
            <a:prstGeom prst="rect">
              <a:avLst/>
            </a:prstGeom>
            <a:noFill/>
          </p:spPr>
          <p:txBody>
            <a:bodyPr wrap="square">
              <a:spAutoFit/>
            </a:bodyPr>
            <a:lstStyle/>
            <a:p>
              <a:r>
                <a:rPr lang="en-US" sz="1200" dirty="0"/>
                <a:t>Evaluated for </a:t>
              </a:r>
              <a:r>
                <a:rPr lang="en-US" sz="1200" dirty="0" err="1"/>
                <a:t>n_estimators</a:t>
              </a:r>
              <a:r>
                <a:rPr lang="en-US" sz="1200" dirty="0"/>
                <a:t>, </a:t>
              </a:r>
              <a:r>
                <a:rPr lang="en-US" sz="1200" dirty="0" err="1"/>
                <a:t>max_depth</a:t>
              </a:r>
              <a:r>
                <a:rPr lang="en-US" sz="1200" dirty="0"/>
                <a:t>, </a:t>
              </a:r>
              <a:r>
                <a:rPr lang="en-US" sz="1200" dirty="0" err="1"/>
                <a:t>min_samples_split</a:t>
              </a:r>
              <a:r>
                <a:rPr lang="en-US" sz="1200" dirty="0"/>
                <a:t>, </a:t>
              </a:r>
              <a:r>
                <a:rPr lang="en-US" sz="1200" dirty="0" err="1"/>
                <a:t>min_samples_leaf</a:t>
              </a:r>
              <a:r>
                <a:rPr lang="en-US" sz="1200" dirty="0"/>
                <a:t>, </a:t>
              </a:r>
              <a:r>
                <a:rPr lang="en-US" sz="1200" dirty="0" err="1"/>
                <a:t>max_features</a:t>
              </a:r>
              <a:r>
                <a:rPr lang="en-US" sz="1200" dirty="0"/>
                <a:t> </a:t>
              </a:r>
            </a:p>
            <a:p>
              <a:endParaRPr lang="en-US" sz="1200" dirty="0"/>
            </a:p>
          </p:txBody>
        </p:sp>
        <p:sp>
          <p:nvSpPr>
            <p:cNvPr id="41" name="TextBox 40">
              <a:extLst>
                <a:ext uri="{FF2B5EF4-FFF2-40B4-BE49-F238E27FC236}">
                  <a16:creationId xmlns:a16="http://schemas.microsoft.com/office/drawing/2014/main" id="{AA9B9305-D2A5-4DF9-A3AC-56F1E2C74770}"/>
                </a:ext>
              </a:extLst>
            </p:cNvPr>
            <p:cNvSpPr txBox="1"/>
            <p:nvPr/>
          </p:nvSpPr>
          <p:spPr>
            <a:xfrm>
              <a:off x="6994690" y="4109827"/>
              <a:ext cx="2515713" cy="1569660"/>
            </a:xfrm>
            <a:prstGeom prst="rect">
              <a:avLst/>
            </a:prstGeom>
            <a:noFill/>
          </p:spPr>
          <p:txBody>
            <a:bodyPr wrap="square">
              <a:spAutoFit/>
            </a:bodyPr>
            <a:lstStyle/>
            <a:p>
              <a:r>
                <a:rPr lang="en-US" sz="1200" dirty="0">
                  <a:latin typeface="Inter"/>
                </a:rPr>
                <a:t>Best parameters: </a:t>
              </a:r>
            </a:p>
            <a:p>
              <a:r>
                <a:rPr lang="en-US" sz="1200" dirty="0" err="1">
                  <a:latin typeface="Inter"/>
                </a:rPr>
                <a:t>N_estimators</a:t>
              </a:r>
              <a:r>
                <a:rPr lang="en-US" sz="1200" dirty="0">
                  <a:latin typeface="Inter"/>
                </a:rPr>
                <a:t> – 100</a:t>
              </a:r>
            </a:p>
            <a:p>
              <a:r>
                <a:rPr lang="en-US" sz="1200" dirty="0" err="1">
                  <a:latin typeface="Inter"/>
                </a:rPr>
                <a:t>Max_depth</a:t>
              </a:r>
              <a:r>
                <a:rPr lang="en-US" sz="1200" dirty="0">
                  <a:latin typeface="Inter"/>
                </a:rPr>
                <a:t> - 20</a:t>
              </a:r>
            </a:p>
            <a:p>
              <a:r>
                <a:rPr lang="en-US" sz="1200" dirty="0" err="1">
                  <a:latin typeface="Inter"/>
                </a:rPr>
                <a:t>Min_samples_split</a:t>
              </a:r>
              <a:r>
                <a:rPr lang="en-US" sz="1200" dirty="0">
                  <a:latin typeface="Inter"/>
                </a:rPr>
                <a:t> – 10</a:t>
              </a:r>
            </a:p>
            <a:p>
              <a:r>
                <a:rPr lang="en-US" sz="1200" dirty="0" err="1">
                  <a:latin typeface="Inter"/>
                </a:rPr>
                <a:t>Min_samples_leaf</a:t>
              </a:r>
              <a:r>
                <a:rPr lang="en-US" sz="1200" dirty="0">
                  <a:latin typeface="Inter"/>
                </a:rPr>
                <a:t> – 10</a:t>
              </a:r>
            </a:p>
            <a:p>
              <a:r>
                <a:rPr lang="en-US" sz="1200" dirty="0" err="1">
                  <a:latin typeface="Inter"/>
                </a:rPr>
                <a:t>Max_features</a:t>
              </a:r>
              <a:r>
                <a:rPr lang="en-US" sz="1200" dirty="0">
                  <a:latin typeface="Inter"/>
                </a:rPr>
                <a:t> – sqrt </a:t>
              </a:r>
            </a:p>
            <a:p>
              <a:endParaRPr lang="en-US" sz="1200" dirty="0">
                <a:latin typeface="Inter"/>
              </a:endParaRPr>
            </a:p>
            <a:p>
              <a:endParaRPr lang="en-US" sz="1200" dirty="0">
                <a:latin typeface="Inter"/>
              </a:endParaRPr>
            </a:p>
          </p:txBody>
        </p:sp>
      </p:grpSp>
      <p:pic>
        <p:nvPicPr>
          <p:cNvPr id="44" name="Picture 43" descr="image.png">
            <a:extLst>
              <a:ext uri="{FF2B5EF4-FFF2-40B4-BE49-F238E27FC236}">
                <a16:creationId xmlns:a16="http://schemas.microsoft.com/office/drawing/2014/main" id="{A0A96AF6-FA1F-6F74-219E-8D8CA559C566}"/>
              </a:ext>
            </a:extLst>
          </p:cNvPr>
          <p:cNvPicPr>
            <a:picLocks noChangeAspect="1"/>
          </p:cNvPicPr>
          <p:nvPr/>
        </p:nvPicPr>
        <p:blipFill>
          <a:blip r:embed="rId7"/>
          <a:stretch>
            <a:fillRect/>
          </a:stretch>
        </p:blipFill>
        <p:spPr>
          <a:xfrm>
            <a:off x="3493015" y="2120182"/>
            <a:ext cx="542925" cy="190500"/>
          </a:xfrm>
          <a:prstGeom prst="rect">
            <a:avLst/>
          </a:prstGeom>
        </p:spPr>
      </p:pic>
      <p:pic>
        <p:nvPicPr>
          <p:cNvPr id="46" name="Picture 45" descr="image.png">
            <a:extLst>
              <a:ext uri="{FF2B5EF4-FFF2-40B4-BE49-F238E27FC236}">
                <a16:creationId xmlns:a16="http://schemas.microsoft.com/office/drawing/2014/main" id="{E1D097C3-A5C7-5F76-15A7-F031B457150D}"/>
              </a:ext>
            </a:extLst>
          </p:cNvPr>
          <p:cNvPicPr>
            <a:picLocks noChangeAspect="1"/>
          </p:cNvPicPr>
          <p:nvPr/>
        </p:nvPicPr>
        <p:blipFill>
          <a:blip r:embed="rId7"/>
          <a:stretch>
            <a:fillRect/>
          </a:stretch>
        </p:blipFill>
        <p:spPr>
          <a:xfrm>
            <a:off x="8420100" y="2109945"/>
            <a:ext cx="542925" cy="190500"/>
          </a:xfrm>
          <a:prstGeom prst="rect">
            <a:avLst/>
          </a:prstGeom>
        </p:spPr>
      </p:pic>
    </p:spTree>
    <p:extLst>
      <p:ext uri="{BB962C8B-B14F-4D97-AF65-F5344CB8AC3E}">
        <p14:creationId xmlns:p14="http://schemas.microsoft.com/office/powerpoint/2010/main" val="2313824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1875532"/>
            <a:ext cx="11049000" cy="3257550"/>
          </a:xfrm>
          <a:prstGeom prst="rect">
            <a:avLst/>
          </a:prstGeom>
        </p:spPr>
      </p:pic>
      <p:pic>
        <p:nvPicPr>
          <p:cNvPr id="4" name="Picture 3" descr="image.png"/>
          <p:cNvPicPr>
            <a:picLocks noChangeAspect="1"/>
          </p:cNvPicPr>
          <p:nvPr/>
        </p:nvPicPr>
        <p:blipFill>
          <a:blip r:embed="rId5"/>
          <a:stretch>
            <a:fillRect/>
          </a:stretch>
        </p:blipFill>
        <p:spPr>
          <a:xfrm>
            <a:off x="571500" y="1209675"/>
            <a:ext cx="11049000" cy="5076825"/>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64629244"/>
              </p:ext>
            </p:extLst>
          </p:nvPr>
        </p:nvGraphicFramePr>
        <p:xfrm>
          <a:off x="581025" y="1885057"/>
          <a:ext cx="11029947" cy="3238500"/>
        </p:xfrm>
        <a:graphic>
          <a:graphicData uri="http://schemas.openxmlformats.org/drawingml/2006/table">
            <a:tbl>
              <a:tblPr firstRow="1" bandRow="1">
                <a:tableStyleId>{5C22544A-7EE6-4342-B048-85BDC9FD1C3A}</a:tableStyleId>
              </a:tblPr>
              <a:tblGrid>
                <a:gridCol w="2896492">
                  <a:extLst>
                    <a:ext uri="{9D8B030D-6E8A-4147-A177-3AD203B41FA5}">
                      <a16:colId xmlns:a16="http://schemas.microsoft.com/office/drawing/2014/main" val="20000"/>
                    </a:ext>
                  </a:extLst>
                </a:gridCol>
                <a:gridCol w="2021830">
                  <a:extLst>
                    <a:ext uri="{9D8B030D-6E8A-4147-A177-3AD203B41FA5}">
                      <a16:colId xmlns:a16="http://schemas.microsoft.com/office/drawing/2014/main" val="20001"/>
                    </a:ext>
                  </a:extLst>
                </a:gridCol>
                <a:gridCol w="1351657">
                  <a:extLst>
                    <a:ext uri="{9D8B030D-6E8A-4147-A177-3AD203B41FA5}">
                      <a16:colId xmlns:a16="http://schemas.microsoft.com/office/drawing/2014/main" val="20002"/>
                    </a:ext>
                  </a:extLst>
                </a:gridCol>
                <a:gridCol w="2101453">
                  <a:extLst>
                    <a:ext uri="{9D8B030D-6E8A-4147-A177-3AD203B41FA5}">
                      <a16:colId xmlns:a16="http://schemas.microsoft.com/office/drawing/2014/main" val="20003"/>
                    </a:ext>
                  </a:extLst>
                </a:gridCol>
                <a:gridCol w="1260871">
                  <a:extLst>
                    <a:ext uri="{9D8B030D-6E8A-4147-A177-3AD203B41FA5}">
                      <a16:colId xmlns:a16="http://schemas.microsoft.com/office/drawing/2014/main" val="20004"/>
                    </a:ext>
                  </a:extLst>
                </a:gridCol>
                <a:gridCol w="1397644">
                  <a:extLst>
                    <a:ext uri="{9D8B030D-6E8A-4147-A177-3AD203B41FA5}">
                      <a16:colId xmlns:a16="http://schemas.microsoft.com/office/drawing/2014/main" val="20005"/>
                    </a:ext>
                  </a:extLst>
                </a:gridCol>
              </a:tblGrid>
              <a:tr h="539750">
                <a:tc>
                  <a:txBody>
                    <a:bodyPr/>
                    <a:lstStyle/>
                    <a:p>
                      <a:pPr algn="l"/>
                      <a:r>
                        <a:rPr sz="1125" b="0" i="0" u="none">
                          <a:solidFill>
                            <a:srgbClr val="FFFFFF"/>
                          </a:solidFill>
                          <a:latin typeface="Montserrat SemiBold"/>
                        </a:rPr>
                        <a:t>Model Archetype</a:t>
                      </a:r>
                    </a:p>
                  </a:txBody>
                  <a:tcPr marL="63500" marR="63500" marT="25400" marB="25400" anchor="ctr">
                    <a:lnL>
                      <a:noFill/>
                    </a:lnL>
                    <a:lnR>
                      <a:noFill/>
                    </a:lnR>
                    <a:lnT>
                      <a:noFill/>
                    </a:lnT>
                    <a:lnB>
                      <a:noFill/>
                    </a:lnB>
                    <a:solidFill>
                      <a:srgbClr val="0B252E"/>
                    </a:solidFill>
                  </a:tcPr>
                </a:tc>
                <a:tc>
                  <a:txBody>
                    <a:bodyPr/>
                    <a:lstStyle/>
                    <a:p>
                      <a:pPr algn="l"/>
                      <a:r>
                        <a:rPr sz="1125" b="0" i="0" u="none">
                          <a:solidFill>
                            <a:srgbClr val="FFFFFF"/>
                          </a:solidFill>
                          <a:latin typeface="Montserrat SemiBold"/>
                        </a:rPr>
                        <a:t>Testing Accuracy</a:t>
                      </a:r>
                    </a:p>
                  </a:txBody>
                  <a:tcPr marL="63500" marR="63500" marT="25400" marB="25400" anchor="ctr">
                    <a:lnL>
                      <a:noFill/>
                    </a:lnL>
                    <a:lnR>
                      <a:noFill/>
                    </a:lnR>
                    <a:lnT>
                      <a:noFill/>
                    </a:lnT>
                    <a:lnB>
                      <a:noFill/>
                    </a:lnB>
                    <a:solidFill>
                      <a:srgbClr val="0B252E"/>
                    </a:solidFill>
                  </a:tcPr>
                </a:tc>
                <a:tc>
                  <a:txBody>
                    <a:bodyPr/>
                    <a:lstStyle/>
                    <a:p>
                      <a:pPr algn="l"/>
                      <a:r>
                        <a:rPr sz="1125" b="0" i="0" u="none">
                          <a:solidFill>
                            <a:srgbClr val="FFFFFF"/>
                          </a:solidFill>
                          <a:latin typeface="Montserrat SemiBold"/>
                        </a:rPr>
                        <a:t>Precision</a:t>
                      </a:r>
                    </a:p>
                  </a:txBody>
                  <a:tcPr marL="63500" marR="63500" marT="25400" marB="25400" anchor="ctr">
                    <a:lnL>
                      <a:noFill/>
                    </a:lnL>
                    <a:lnR>
                      <a:noFill/>
                    </a:lnR>
                    <a:lnT>
                      <a:noFill/>
                    </a:lnT>
                    <a:lnB>
                      <a:noFill/>
                    </a:lnB>
                    <a:solidFill>
                      <a:srgbClr val="0B252E"/>
                    </a:solidFill>
                  </a:tcPr>
                </a:tc>
                <a:tc>
                  <a:txBody>
                    <a:bodyPr/>
                    <a:lstStyle/>
                    <a:p>
                      <a:pPr algn="l"/>
                      <a:r>
                        <a:rPr sz="1125" b="0" i="0" u="none">
                          <a:solidFill>
                            <a:srgbClr val="FFFFFF"/>
                          </a:solidFill>
                          <a:latin typeface="Montserrat SemiBold"/>
                        </a:rPr>
                        <a:t>Recall (Sensitivity)</a:t>
                      </a:r>
                    </a:p>
                  </a:txBody>
                  <a:tcPr marL="63500" marR="63500" marT="25400" marB="25400" anchor="ctr">
                    <a:lnL>
                      <a:noFill/>
                    </a:lnL>
                    <a:lnR>
                      <a:noFill/>
                    </a:lnR>
                    <a:lnT>
                      <a:noFill/>
                    </a:lnT>
                    <a:lnB>
                      <a:noFill/>
                    </a:lnB>
                    <a:solidFill>
                      <a:srgbClr val="0B252E"/>
                    </a:solidFill>
                  </a:tcPr>
                </a:tc>
                <a:tc>
                  <a:txBody>
                    <a:bodyPr/>
                    <a:lstStyle/>
                    <a:p>
                      <a:pPr algn="l"/>
                      <a:r>
                        <a:rPr sz="1125" b="0" i="0" u="none">
                          <a:solidFill>
                            <a:srgbClr val="FFFFFF"/>
                          </a:solidFill>
                          <a:latin typeface="Montserrat SemiBold"/>
                        </a:rPr>
                        <a:t>F1 Score</a:t>
                      </a:r>
                    </a:p>
                  </a:txBody>
                  <a:tcPr marL="63500" marR="63500" marT="25400" marB="25400" anchor="ctr">
                    <a:lnL>
                      <a:noFill/>
                    </a:lnL>
                    <a:lnR>
                      <a:noFill/>
                    </a:lnR>
                    <a:lnT>
                      <a:noFill/>
                    </a:lnT>
                    <a:lnB>
                      <a:noFill/>
                    </a:lnB>
                    <a:solidFill>
                      <a:srgbClr val="0B252E"/>
                    </a:solidFill>
                  </a:tcPr>
                </a:tc>
                <a:tc>
                  <a:txBody>
                    <a:bodyPr/>
                    <a:lstStyle/>
                    <a:p>
                      <a:pPr algn="l"/>
                      <a:r>
                        <a:rPr sz="1125" b="0" i="0" u="none">
                          <a:solidFill>
                            <a:srgbClr val="FFFFFF"/>
                          </a:solidFill>
                          <a:latin typeface="Montserrat SemiBold"/>
                        </a:rPr>
                        <a:t>ROC-AUC</a:t>
                      </a:r>
                    </a:p>
                  </a:txBody>
                  <a:tcPr marL="63500" marR="63500" marT="25400" marB="25400" anchor="ctr">
                    <a:lnL>
                      <a:noFill/>
                    </a:lnL>
                    <a:lnR>
                      <a:noFill/>
                    </a:lnR>
                    <a:lnT>
                      <a:noFill/>
                    </a:lnT>
                    <a:lnB>
                      <a:noFill/>
                    </a:lnB>
                    <a:solidFill>
                      <a:srgbClr val="0B252E"/>
                    </a:solidFill>
                  </a:tcPr>
                </a:tc>
                <a:extLst>
                  <a:ext uri="{0D108BD9-81ED-4DB2-BD59-A6C34878D82A}">
                    <a16:rowId xmlns:a16="http://schemas.microsoft.com/office/drawing/2014/main" val="10000"/>
                  </a:ext>
                </a:extLst>
              </a:tr>
              <a:tr h="539750">
                <a:tc>
                  <a:txBody>
                    <a:bodyPr/>
                    <a:lstStyle/>
                    <a:p>
                      <a:pPr algn="l"/>
                      <a:r>
                        <a:rPr sz="1125" b="0" i="0" u="none" dirty="0">
                          <a:solidFill>
                            <a:schemeClr val="tx1"/>
                          </a:solidFill>
                          <a:latin typeface="Inter SemiBold"/>
                        </a:rPr>
                        <a:t>Logistic Regression</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72.0%</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66.2%</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59.0%</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0.624</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0.786</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39750">
                <a:tc>
                  <a:txBody>
                    <a:bodyPr/>
                    <a:lstStyle/>
                    <a:p>
                      <a:pPr algn="l"/>
                      <a:r>
                        <a:rPr sz="1125" b="0" i="0" u="none">
                          <a:solidFill>
                            <a:schemeClr val="tx1"/>
                          </a:solidFill>
                          <a:latin typeface="Inter"/>
                        </a:rPr>
                        <a:t>Baseline Decision Tree</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63.2%</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53.3%</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53.8%</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0.535</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0.615</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539750">
                <a:tc>
                  <a:txBody>
                    <a:bodyPr/>
                    <a:lstStyle/>
                    <a:p>
                      <a:pPr algn="l"/>
                      <a:r>
                        <a:rPr sz="1125" b="0" i="0" u="none">
                          <a:solidFill>
                            <a:schemeClr val="tx1"/>
                          </a:solidFill>
                          <a:latin typeface="Inter"/>
                        </a:rPr>
                        <a:t>Tuned Decision Tree</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71.6%</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64.8%</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SemiBold"/>
                        </a:rPr>
                        <a:t>61.4%</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0.630</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0.779</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39750">
                <a:tc>
                  <a:txBody>
                    <a:bodyPr/>
                    <a:lstStyle/>
                    <a:p>
                      <a:pPr algn="l"/>
                      <a:r>
                        <a:rPr sz="1125" b="0" i="0" u="none">
                          <a:solidFill>
                            <a:schemeClr val="tx1"/>
                          </a:solidFill>
                          <a:latin typeface="Inter"/>
                        </a:rPr>
                        <a:t>Baseline Random Forest</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71.5%</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65.0%</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59.7%</a:t>
                      </a:r>
                    </a:p>
                  </a:txBody>
                  <a:tcPr marL="63500" marR="63500" marT="25400" marB="25400" anchor="ctr">
                    <a:lnL>
                      <a:noFill/>
                    </a:lnL>
                    <a:lnR>
                      <a:noFill/>
                    </a:lnR>
                    <a:lnT>
                      <a:noFill/>
                    </a:lnT>
                    <a:lnB>
                      <a:noFill/>
                    </a:lnB>
                    <a:noFill/>
                  </a:tcPr>
                </a:tc>
                <a:tc>
                  <a:txBody>
                    <a:bodyPr/>
                    <a:lstStyle/>
                    <a:p>
                      <a:pPr algn="l"/>
                      <a:r>
                        <a:rPr sz="1125" b="0" i="0" u="none">
                          <a:solidFill>
                            <a:schemeClr val="tx1"/>
                          </a:solidFill>
                          <a:latin typeface="Inter"/>
                        </a:rPr>
                        <a:t>0.623</a:t>
                      </a:r>
                    </a:p>
                  </a:txBody>
                  <a:tcPr marL="63500" marR="63500" marT="25400" marB="25400" anchor="ctr">
                    <a:lnL>
                      <a:noFill/>
                    </a:lnL>
                    <a:lnR>
                      <a:noFill/>
                    </a:lnR>
                    <a:lnT>
                      <a:noFill/>
                    </a:lnT>
                    <a:lnB>
                      <a:noFill/>
                    </a:lnB>
                    <a:noFill/>
                  </a:tcPr>
                </a:tc>
                <a:tc>
                  <a:txBody>
                    <a:bodyPr/>
                    <a:lstStyle/>
                    <a:p>
                      <a:pPr algn="l"/>
                      <a:r>
                        <a:rPr sz="1125" b="0" i="0" u="none" dirty="0">
                          <a:solidFill>
                            <a:schemeClr val="tx1"/>
                          </a:solidFill>
                          <a:latin typeface="Inter"/>
                        </a:rPr>
                        <a:t>0.779</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r h="539750">
                <a:tc>
                  <a:txBody>
                    <a:bodyPr/>
                    <a:lstStyle/>
                    <a:p>
                      <a:pPr algn="l"/>
                      <a:r>
                        <a:rPr sz="1125" b="1" i="0" u="none" dirty="0">
                          <a:solidFill>
                            <a:schemeClr val="tx1"/>
                          </a:solidFill>
                          <a:latin typeface="Inter"/>
                        </a:rPr>
                        <a:t>Tuned Random Forest </a:t>
                      </a:r>
                    </a:p>
                  </a:txBody>
                  <a:tcPr marL="63500" marR="63500" marT="25400" marB="25400" anchor="ctr">
                    <a:lnL>
                      <a:noFill/>
                    </a:lnL>
                    <a:lnR>
                      <a:noFill/>
                    </a:lnR>
                    <a:lnT>
                      <a:noFill/>
                    </a:lnT>
                    <a:lnB>
                      <a:noFill/>
                    </a:lnB>
                    <a:solidFill>
                      <a:srgbClr val="10B981"/>
                    </a:solidFill>
                  </a:tcPr>
                </a:tc>
                <a:tc>
                  <a:txBody>
                    <a:bodyPr/>
                    <a:lstStyle/>
                    <a:p>
                      <a:pPr algn="l"/>
                      <a:r>
                        <a:rPr sz="1125" b="1" i="0" u="none" dirty="0">
                          <a:solidFill>
                            <a:schemeClr val="tx1"/>
                          </a:solidFill>
                          <a:latin typeface="Inter"/>
                        </a:rPr>
                        <a:t>72.3%</a:t>
                      </a:r>
                    </a:p>
                  </a:txBody>
                  <a:tcPr marL="63500" marR="63500" marT="25400" marB="25400" anchor="ctr">
                    <a:lnL>
                      <a:noFill/>
                    </a:lnL>
                    <a:lnR>
                      <a:noFill/>
                    </a:lnR>
                    <a:lnT>
                      <a:noFill/>
                    </a:lnT>
                    <a:lnB>
                      <a:noFill/>
                    </a:lnB>
                    <a:solidFill>
                      <a:srgbClr val="10B981"/>
                    </a:solidFill>
                  </a:tcPr>
                </a:tc>
                <a:tc>
                  <a:txBody>
                    <a:bodyPr/>
                    <a:lstStyle/>
                    <a:p>
                      <a:pPr algn="l"/>
                      <a:r>
                        <a:rPr sz="1125" b="1" i="0" u="none" dirty="0">
                          <a:solidFill>
                            <a:schemeClr val="tx1"/>
                          </a:solidFill>
                          <a:latin typeface="Inter"/>
                        </a:rPr>
                        <a:t>66.1%</a:t>
                      </a:r>
                    </a:p>
                  </a:txBody>
                  <a:tcPr marL="63500" marR="63500" marT="25400" marB="25400" anchor="ctr">
                    <a:lnL>
                      <a:noFill/>
                    </a:lnL>
                    <a:lnR>
                      <a:noFill/>
                    </a:lnR>
                    <a:lnT>
                      <a:noFill/>
                    </a:lnT>
                    <a:lnB>
                      <a:noFill/>
                    </a:lnB>
                    <a:solidFill>
                      <a:srgbClr val="10B981"/>
                    </a:solidFill>
                  </a:tcPr>
                </a:tc>
                <a:tc>
                  <a:txBody>
                    <a:bodyPr/>
                    <a:lstStyle/>
                    <a:p>
                      <a:pPr algn="l"/>
                      <a:r>
                        <a:rPr sz="1125" b="1" i="0" u="none" dirty="0">
                          <a:solidFill>
                            <a:schemeClr val="tx1"/>
                          </a:solidFill>
                          <a:latin typeface="Inter"/>
                        </a:rPr>
                        <a:t>60.9%</a:t>
                      </a:r>
                    </a:p>
                  </a:txBody>
                  <a:tcPr marL="63500" marR="63500" marT="25400" marB="25400" anchor="ctr">
                    <a:lnL>
                      <a:noFill/>
                    </a:lnL>
                    <a:lnR>
                      <a:noFill/>
                    </a:lnR>
                    <a:lnT>
                      <a:noFill/>
                    </a:lnT>
                    <a:lnB>
                      <a:noFill/>
                    </a:lnB>
                    <a:solidFill>
                      <a:srgbClr val="10B981"/>
                    </a:solidFill>
                  </a:tcPr>
                </a:tc>
                <a:tc>
                  <a:txBody>
                    <a:bodyPr/>
                    <a:lstStyle/>
                    <a:p>
                      <a:pPr algn="l"/>
                      <a:r>
                        <a:rPr sz="1125" b="1" i="0" u="none" dirty="0">
                          <a:solidFill>
                            <a:schemeClr val="tx1"/>
                          </a:solidFill>
                          <a:latin typeface="Inter"/>
                        </a:rPr>
                        <a:t>0.634</a:t>
                      </a:r>
                    </a:p>
                  </a:txBody>
                  <a:tcPr marL="63500" marR="63500" marT="25400" marB="25400" anchor="ctr">
                    <a:lnL>
                      <a:noFill/>
                    </a:lnL>
                    <a:lnR>
                      <a:noFill/>
                    </a:lnR>
                    <a:lnT>
                      <a:noFill/>
                    </a:lnT>
                    <a:lnB>
                      <a:noFill/>
                    </a:lnB>
                    <a:solidFill>
                      <a:srgbClr val="10B981"/>
                    </a:solidFill>
                  </a:tcPr>
                </a:tc>
                <a:tc>
                  <a:txBody>
                    <a:bodyPr/>
                    <a:lstStyle/>
                    <a:p>
                      <a:pPr algn="l"/>
                      <a:r>
                        <a:rPr sz="1125" b="1" i="0" u="none" dirty="0">
                          <a:solidFill>
                            <a:schemeClr val="tx1"/>
                          </a:solidFill>
                          <a:latin typeface="Inter"/>
                        </a:rPr>
                        <a:t>0.789</a:t>
                      </a:r>
                    </a:p>
                  </a:txBody>
                  <a:tcPr marL="63500" marR="63500" marT="25400" marB="25400" anchor="ctr">
                    <a:lnL>
                      <a:noFill/>
                    </a:lnL>
                    <a:lnR>
                      <a:noFill/>
                    </a:lnR>
                    <a:lnT>
                      <a:noFill/>
                    </a:lnT>
                    <a:lnB>
                      <a:noFill/>
                    </a:lnB>
                    <a:solidFill>
                      <a:srgbClr val="10B981"/>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581025" y="2947094"/>
            <a:ext cx="2896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7517" y="2947094"/>
            <a:ext cx="202183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99348" y="2947094"/>
            <a:ext cx="1351657"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1005" y="2947094"/>
            <a:ext cx="21014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952458" y="2947094"/>
            <a:ext cx="12608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13330" y="2947094"/>
            <a:ext cx="139764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1025" y="3490019"/>
            <a:ext cx="2896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7517" y="3490019"/>
            <a:ext cx="202183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99348" y="3490019"/>
            <a:ext cx="1351657"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1005" y="3490019"/>
            <a:ext cx="21014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952458" y="3490019"/>
            <a:ext cx="12608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213330" y="3490019"/>
            <a:ext cx="139764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81025" y="4032944"/>
            <a:ext cx="2896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77517" y="4032944"/>
            <a:ext cx="202183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99348" y="4032944"/>
            <a:ext cx="1351657"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1005" y="4032944"/>
            <a:ext cx="21014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52458" y="4032944"/>
            <a:ext cx="12608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213330" y="4032944"/>
            <a:ext cx="139764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81025" y="4575869"/>
            <a:ext cx="2896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477517" y="4575869"/>
            <a:ext cx="202183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99348" y="4575869"/>
            <a:ext cx="1351657"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1005" y="4575869"/>
            <a:ext cx="21014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52458" y="4575869"/>
            <a:ext cx="12608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213330" y="4575869"/>
            <a:ext cx="139764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Performance Comparison</a:t>
            </a:r>
          </a:p>
        </p:txBody>
      </p:sp>
      <p:sp>
        <p:nvSpPr>
          <p:cNvPr id="31" name="Rectangle 30"/>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97608"/>
            <a:ext cx="5334000" cy="2900957"/>
          </a:xfrm>
          <a:prstGeom prst="rect">
            <a:avLst/>
          </a:prstGeom>
        </p:spPr>
      </p:pic>
      <p:pic>
        <p:nvPicPr>
          <p:cNvPr id="4" name="Picture 3" descr="image.png"/>
          <p:cNvPicPr>
            <a:picLocks noChangeAspect="1"/>
          </p:cNvPicPr>
          <p:nvPr/>
        </p:nvPicPr>
        <p:blipFill>
          <a:blip r:embed="rId4"/>
          <a:stretch>
            <a:fillRect/>
          </a:stretch>
        </p:blipFill>
        <p:spPr>
          <a:xfrm>
            <a:off x="6286500" y="2297608"/>
            <a:ext cx="5334000" cy="2900957"/>
          </a:xfrm>
          <a:prstGeom prst="rect">
            <a:avLst/>
          </a:prstGeom>
        </p:spPr>
      </p:pic>
      <p:sp>
        <p:nvSpPr>
          <p:cNvPr id="5" name="TextBox 4"/>
          <p:cNvSpPr txBox="1"/>
          <p:nvPr/>
        </p:nvSpPr>
        <p:spPr>
          <a:xfrm>
            <a:off x="914400" y="2640508"/>
            <a:ext cx="4880610" cy="276225"/>
          </a:xfrm>
          <a:prstGeom prst="rect">
            <a:avLst/>
          </a:prstGeom>
          <a:noFill/>
        </p:spPr>
        <p:txBody>
          <a:bodyPr wrap="square" lIns="0" tIns="0" rIns="0" bIns="0" anchor="t">
            <a:spAutoFit/>
          </a:bodyPr>
          <a:lstStyle/>
          <a:p>
            <a:pPr algn="l"/>
            <a:r>
              <a:rPr sz="1650" b="0" i="0" u="none">
                <a:solidFill>
                  <a:srgbClr val="0B252E"/>
                </a:solidFill>
                <a:latin typeface="Montserrat SemiBold"/>
              </a:rPr>
              <a:t>No Clinical Overhead Required</a:t>
            </a:r>
          </a:p>
        </p:txBody>
      </p:sp>
      <p:sp>
        <p:nvSpPr>
          <p:cNvPr id="6" name="Rectangle 5"/>
          <p:cNvSpPr/>
          <p:nvPr/>
        </p:nvSpPr>
        <p:spPr>
          <a:xfrm>
            <a:off x="914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250108"/>
            <a:ext cx="4648200" cy="731341"/>
          </a:xfrm>
          <a:prstGeom prst="rect">
            <a:avLst/>
          </a:prstGeom>
          <a:noFill/>
        </p:spPr>
        <p:txBody>
          <a:bodyPr wrap="square" lIns="0" tIns="0" rIns="0" bIns="0" anchor="t">
            <a:spAutoFit/>
          </a:bodyPr>
          <a:lstStyle/>
          <a:p>
            <a:pPr algn="l">
              <a:lnSpc>
                <a:spcPts val="1920"/>
              </a:lnSpc>
            </a:pPr>
            <a:r>
              <a:rPr sz="1200" b="0" i="0" u="none" dirty="0">
                <a:latin typeface="Inter"/>
              </a:rPr>
              <a:t>By bypassing laboratory requirements, predictive tracking is shifted up the patient funnel. Scale early-stage preventative flagging without requiring clinical draws or visits.</a:t>
            </a:r>
          </a:p>
        </p:txBody>
      </p:sp>
      <p:sp>
        <p:nvSpPr>
          <p:cNvPr id="8" name="TextBox 7"/>
          <p:cNvSpPr txBox="1"/>
          <p:nvPr/>
        </p:nvSpPr>
        <p:spPr>
          <a:xfrm>
            <a:off x="914400" y="4124325"/>
            <a:ext cx="4648200" cy="467051"/>
          </a:xfrm>
          <a:prstGeom prst="rect">
            <a:avLst/>
          </a:prstGeom>
          <a:noFill/>
        </p:spPr>
        <p:txBody>
          <a:bodyPr wrap="square" lIns="0" tIns="0" rIns="0" bIns="0" anchor="t">
            <a:spAutoFit/>
          </a:bodyPr>
          <a:lstStyle/>
          <a:p>
            <a:pPr algn="l">
              <a:lnSpc>
                <a:spcPts val="1920"/>
              </a:lnSpc>
            </a:pPr>
            <a:r>
              <a:rPr sz="1200" b="0" i="0" u="none" dirty="0">
                <a:latin typeface="Inter"/>
              </a:rPr>
              <a:t>Integrates instantly into simple portal questionnaires, onboarding assessments, or mobile wellness apps.</a:t>
            </a:r>
          </a:p>
        </p:txBody>
      </p:sp>
      <p:sp>
        <p:nvSpPr>
          <p:cNvPr id="9" name="TextBox 8"/>
          <p:cNvSpPr txBox="1"/>
          <p:nvPr/>
        </p:nvSpPr>
        <p:spPr>
          <a:xfrm>
            <a:off x="6629400" y="2640508"/>
            <a:ext cx="4880610" cy="276225"/>
          </a:xfrm>
          <a:prstGeom prst="rect">
            <a:avLst/>
          </a:prstGeom>
          <a:noFill/>
        </p:spPr>
        <p:txBody>
          <a:bodyPr wrap="square" lIns="0" tIns="0" rIns="0" bIns="0" anchor="t">
            <a:spAutoFit/>
          </a:bodyPr>
          <a:lstStyle/>
          <a:p>
            <a:pPr algn="l"/>
            <a:r>
              <a:rPr sz="1650" b="0" i="0" u="none">
                <a:solidFill>
                  <a:srgbClr val="0B252E"/>
                </a:solidFill>
                <a:latin typeface="Montserrat SemiBold"/>
              </a:rPr>
              <a:t>The Engineering Trade-Off</a:t>
            </a:r>
          </a:p>
        </p:txBody>
      </p:sp>
      <p:sp>
        <p:nvSpPr>
          <p:cNvPr id="10" name="Rectangle 9"/>
          <p:cNvSpPr/>
          <p:nvPr/>
        </p:nvSpPr>
        <p:spPr>
          <a:xfrm>
            <a:off x="6629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3250108"/>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Choose Logistic Regression</a:t>
            </a:r>
            <a:r>
              <a:rPr sz="1200" b="0" i="0" u="none" dirty="0">
                <a:latin typeface="Inter"/>
              </a:rPr>
              <a:t> if complete feature transparency is mandatory for regulatory, compliance, or clinical explanation requirements.</a:t>
            </a:r>
          </a:p>
        </p:txBody>
      </p:sp>
      <p:sp>
        <p:nvSpPr>
          <p:cNvPr id="12" name="TextBox 11"/>
          <p:cNvSpPr txBox="1"/>
          <p:nvPr/>
        </p:nvSpPr>
        <p:spPr>
          <a:xfrm>
            <a:off x="6629400" y="4124325"/>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Choose Tuned Random Forest</a:t>
            </a:r>
            <a:r>
              <a:rPr sz="1200" b="0" i="0" u="none" dirty="0">
                <a:latin typeface="Inter"/>
              </a:rPr>
              <a:t> to prioritize highest operational discrimination, capturing nuanced risk factors across complex populations.</a:t>
            </a:r>
          </a:p>
        </p:txBody>
      </p:sp>
      <p:sp>
        <p:nvSpPr>
          <p:cNvPr id="13" name="TextBox 12"/>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Operational Implications</a:t>
            </a:r>
          </a:p>
        </p:txBody>
      </p:sp>
      <p:sp>
        <p:nvSpPr>
          <p:cNvPr id="14" name="Rectangle 13"/>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grpSp>
        <p:nvGrpSpPr>
          <p:cNvPr id="12" name="Group 11">
            <a:extLst>
              <a:ext uri="{FF2B5EF4-FFF2-40B4-BE49-F238E27FC236}">
                <a16:creationId xmlns:a16="http://schemas.microsoft.com/office/drawing/2014/main" id="{86934054-6B9B-9510-0818-2F670D54708F}"/>
              </a:ext>
            </a:extLst>
          </p:cNvPr>
          <p:cNvGrpSpPr/>
          <p:nvPr/>
        </p:nvGrpSpPr>
        <p:grpSpPr>
          <a:xfrm>
            <a:off x="619125" y="2628304"/>
            <a:ext cx="11001375" cy="1996002"/>
            <a:chOff x="619125" y="2628304"/>
            <a:chExt cx="11001375" cy="1996002"/>
          </a:xfrm>
        </p:grpSpPr>
        <p:sp>
          <p:nvSpPr>
            <p:cNvPr id="5" name="TextBox 4"/>
            <p:cNvSpPr txBox="1"/>
            <p:nvPr/>
          </p:nvSpPr>
          <p:spPr>
            <a:xfrm>
              <a:off x="1000125" y="4121348"/>
              <a:ext cx="10620375" cy="502958"/>
            </a:xfrm>
            <a:prstGeom prst="rect">
              <a:avLst/>
            </a:prstGeom>
            <a:noFill/>
          </p:spPr>
          <p:txBody>
            <a:bodyPr wrap="square" lIns="0" tIns="0" rIns="0" bIns="0" anchor="t">
              <a:spAutoFit/>
            </a:bodyPr>
            <a:lstStyle/>
            <a:p>
              <a:pPr algn="l">
                <a:lnSpc>
                  <a:spcPts val="2039"/>
                </a:lnSpc>
              </a:pPr>
              <a:r>
                <a:rPr sz="1600" b="1" i="0" u="none">
                  <a:latin typeface="Inter"/>
                </a:rPr>
                <a:t>Non-Clinical Design Limits:</a:t>
              </a:r>
              <a:r>
                <a:rPr sz="1600" b="0" i="0" u="none">
                  <a:latin typeface="Inter"/>
                </a:rPr>
                <a:t> Engineered explicitly as a population risk-stratification screening tool. It is not designed to replace formal diagnostic exams.</a:t>
              </a:r>
            </a:p>
          </p:txBody>
        </p:sp>
        <p:sp>
          <p:nvSpPr>
            <p:cNvPr id="3" name="TextBox 2"/>
            <p:cNvSpPr txBox="1"/>
            <p:nvPr/>
          </p:nvSpPr>
          <p:spPr>
            <a:xfrm>
              <a:off x="1000125" y="2628304"/>
              <a:ext cx="10620375" cy="502958"/>
            </a:xfrm>
            <a:prstGeom prst="rect">
              <a:avLst/>
            </a:prstGeom>
            <a:noFill/>
          </p:spPr>
          <p:txBody>
            <a:bodyPr wrap="square" lIns="0" tIns="0" rIns="0" bIns="0" anchor="t">
              <a:spAutoFit/>
            </a:bodyPr>
            <a:lstStyle/>
            <a:p>
              <a:pPr algn="l">
                <a:lnSpc>
                  <a:spcPts val="2039"/>
                </a:lnSpc>
              </a:pPr>
              <a:r>
                <a:rPr sz="1600" b="1" i="0" u="none" dirty="0">
                  <a:latin typeface="Inter"/>
                </a:rPr>
                <a:t>Self-Reported Survey Basis:</a:t>
              </a:r>
              <a:r>
                <a:rPr sz="1600" b="0" i="0" u="none" dirty="0">
                  <a:latin typeface="Inter"/>
                </a:rPr>
                <a:t> The BRFSS relies entirely on self-reports. This can naturally introduce behavioral recall and social desirability biases in diet, weight, and exercise entries.</a:t>
              </a:r>
            </a:p>
          </p:txBody>
        </p:sp>
        <p:sp>
          <p:nvSpPr>
            <p:cNvPr id="4" name="TextBox 3"/>
            <p:cNvSpPr txBox="1"/>
            <p:nvPr/>
          </p:nvSpPr>
          <p:spPr>
            <a:xfrm>
              <a:off x="1000125" y="3374826"/>
              <a:ext cx="10620375" cy="502958"/>
            </a:xfrm>
            <a:prstGeom prst="rect">
              <a:avLst/>
            </a:prstGeom>
            <a:noFill/>
          </p:spPr>
          <p:txBody>
            <a:bodyPr wrap="square" lIns="0" tIns="0" rIns="0" bIns="0" anchor="t">
              <a:spAutoFit/>
            </a:bodyPr>
            <a:lstStyle/>
            <a:p>
              <a:pPr algn="l">
                <a:lnSpc>
                  <a:spcPts val="2039"/>
                </a:lnSpc>
              </a:pPr>
              <a:r>
                <a:rPr sz="1600" b="1" i="0" u="none" dirty="0">
                  <a:latin typeface="Inter"/>
                </a:rPr>
                <a:t>Cross-Sectional Constraints:</a:t>
              </a:r>
              <a:r>
                <a:rPr sz="1600" b="0" i="0" u="none" dirty="0">
                  <a:latin typeface="Inter"/>
                </a:rPr>
                <a:t> The CDC database captures a single point in time, proving strong and actionable predictive associations rather than establishing true medical causality.</a:t>
              </a:r>
            </a:p>
          </p:txBody>
        </p:sp>
        <p:pic>
          <p:nvPicPr>
            <p:cNvPr id="6" name="Picture 5" descr="image.png"/>
            <p:cNvPicPr>
              <a:picLocks noChangeAspect="1"/>
            </p:cNvPicPr>
            <p:nvPr/>
          </p:nvPicPr>
          <p:blipFill>
            <a:blip r:embed="rId4"/>
            <a:stretch>
              <a:fillRect/>
            </a:stretch>
          </p:blipFill>
          <p:spPr>
            <a:xfrm>
              <a:off x="619125" y="2642592"/>
              <a:ext cx="161925" cy="219075"/>
            </a:xfrm>
            <a:prstGeom prst="rect">
              <a:avLst/>
            </a:prstGeom>
          </p:spPr>
        </p:pic>
        <p:pic>
          <p:nvPicPr>
            <p:cNvPr id="7" name="Picture 6" descr="image.png"/>
            <p:cNvPicPr>
              <a:picLocks noChangeAspect="1"/>
            </p:cNvPicPr>
            <p:nvPr/>
          </p:nvPicPr>
          <p:blipFill>
            <a:blip r:embed="rId5"/>
            <a:stretch>
              <a:fillRect/>
            </a:stretch>
          </p:blipFill>
          <p:spPr>
            <a:xfrm>
              <a:off x="619125" y="3389114"/>
              <a:ext cx="209550" cy="219075"/>
            </a:xfrm>
            <a:prstGeom prst="rect">
              <a:avLst/>
            </a:prstGeom>
          </p:spPr>
        </p:pic>
        <p:pic>
          <p:nvPicPr>
            <p:cNvPr id="8" name="Picture 7" descr="image.png"/>
            <p:cNvPicPr>
              <a:picLocks noChangeAspect="1"/>
            </p:cNvPicPr>
            <p:nvPr/>
          </p:nvPicPr>
          <p:blipFill>
            <a:blip r:embed="rId6"/>
            <a:stretch>
              <a:fillRect/>
            </a:stretch>
          </p:blipFill>
          <p:spPr>
            <a:xfrm>
              <a:off x="619125" y="4135635"/>
              <a:ext cx="209550" cy="219075"/>
            </a:xfrm>
            <a:prstGeom prst="rect">
              <a:avLst/>
            </a:prstGeom>
          </p:spPr>
        </p:pic>
      </p:grpSp>
      <p:sp>
        <p:nvSpPr>
          <p:cNvPr id="9" name="TextBox 8"/>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Study Limitations</a:t>
            </a:r>
          </a:p>
        </p:txBody>
      </p:sp>
      <p:sp>
        <p:nvSpPr>
          <p:cNvPr id="10" name="Rectangle 9"/>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297608"/>
            <a:ext cx="5334000" cy="2900957"/>
          </a:xfrm>
          <a:prstGeom prst="rect">
            <a:avLst/>
          </a:prstGeom>
        </p:spPr>
      </p:pic>
      <p:pic>
        <p:nvPicPr>
          <p:cNvPr id="4" name="Picture 3" descr="image.png"/>
          <p:cNvPicPr>
            <a:picLocks noChangeAspect="1"/>
          </p:cNvPicPr>
          <p:nvPr/>
        </p:nvPicPr>
        <p:blipFill>
          <a:blip r:embed="rId5"/>
          <a:stretch>
            <a:fillRect/>
          </a:stretch>
        </p:blipFill>
        <p:spPr>
          <a:xfrm>
            <a:off x="6286500" y="2297608"/>
            <a:ext cx="5334000" cy="2900957"/>
          </a:xfrm>
          <a:prstGeom prst="rect">
            <a:avLst/>
          </a:prstGeom>
        </p:spPr>
      </p:pic>
      <p:sp>
        <p:nvSpPr>
          <p:cNvPr id="5" name="TextBox 4"/>
          <p:cNvSpPr txBox="1"/>
          <p:nvPr/>
        </p:nvSpPr>
        <p:spPr>
          <a:xfrm>
            <a:off x="914400" y="2640508"/>
            <a:ext cx="4880610" cy="276225"/>
          </a:xfrm>
          <a:prstGeom prst="rect">
            <a:avLst/>
          </a:prstGeom>
          <a:noFill/>
        </p:spPr>
        <p:txBody>
          <a:bodyPr wrap="square" lIns="0" tIns="0" rIns="0" bIns="0" anchor="t">
            <a:spAutoFit/>
          </a:bodyPr>
          <a:lstStyle/>
          <a:p>
            <a:pPr algn="l"/>
            <a:r>
              <a:rPr sz="1650" b="0" i="0" u="none">
                <a:solidFill>
                  <a:srgbClr val="0B252E"/>
                </a:solidFill>
                <a:latin typeface="Montserrat SemiBold"/>
              </a:rPr>
              <a:t>Immediate Next Steps</a:t>
            </a:r>
          </a:p>
        </p:txBody>
      </p:sp>
      <p:sp>
        <p:nvSpPr>
          <p:cNvPr id="6" name="Rectangle 5"/>
          <p:cNvSpPr/>
          <p:nvPr/>
        </p:nvSpPr>
        <p:spPr>
          <a:xfrm>
            <a:off x="914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250108"/>
            <a:ext cx="4648200" cy="731341"/>
          </a:xfrm>
          <a:prstGeom prst="rect">
            <a:avLst/>
          </a:prstGeom>
          <a:noFill/>
        </p:spPr>
        <p:txBody>
          <a:bodyPr wrap="square" lIns="0" tIns="0" rIns="0" bIns="0" anchor="t">
            <a:spAutoFit/>
          </a:bodyPr>
          <a:lstStyle/>
          <a:p>
            <a:pPr algn="l">
              <a:lnSpc>
                <a:spcPts val="1920"/>
              </a:lnSpc>
            </a:pPr>
            <a:r>
              <a:rPr sz="1200" b="1" i="0" u="none" dirty="0">
                <a:latin typeface="Inter"/>
              </a:rPr>
              <a:t>Preventative Screening Integration:</a:t>
            </a:r>
            <a:r>
              <a:rPr sz="1200" b="0" i="0" u="none" dirty="0">
                <a:latin typeface="Inter"/>
              </a:rPr>
              <a:t> Embed our questionnaire-driven predictive logic directly into mobile health application onboarding pipelines.</a:t>
            </a:r>
          </a:p>
        </p:txBody>
      </p:sp>
      <p:sp>
        <p:nvSpPr>
          <p:cNvPr id="8" name="TextBox 7"/>
          <p:cNvSpPr txBox="1"/>
          <p:nvPr/>
        </p:nvSpPr>
        <p:spPr>
          <a:xfrm>
            <a:off x="914400" y="4124325"/>
            <a:ext cx="4648200" cy="731341"/>
          </a:xfrm>
          <a:prstGeom prst="rect">
            <a:avLst/>
          </a:prstGeom>
          <a:noFill/>
        </p:spPr>
        <p:txBody>
          <a:bodyPr wrap="square" lIns="0" tIns="0" rIns="0" bIns="0" anchor="t">
            <a:spAutoFit/>
          </a:bodyPr>
          <a:lstStyle/>
          <a:p>
            <a:pPr algn="l">
              <a:lnSpc>
                <a:spcPts val="1920"/>
              </a:lnSpc>
            </a:pPr>
            <a:r>
              <a:rPr sz="1200" b="1" i="0" u="none" dirty="0">
                <a:latin typeface="Inter"/>
              </a:rPr>
              <a:t>Holistic Intake Focus:</a:t>
            </a:r>
            <a:r>
              <a:rPr sz="1200" b="0" i="0" u="none" dirty="0">
                <a:latin typeface="Inter"/>
              </a:rPr>
              <a:t> Expand primary assessment collection protocols to capture vital socioeconomic and lifestyle determinants alongside standard medical charts.</a:t>
            </a:r>
          </a:p>
        </p:txBody>
      </p:sp>
      <p:sp>
        <p:nvSpPr>
          <p:cNvPr id="9" name="TextBox 8"/>
          <p:cNvSpPr txBox="1"/>
          <p:nvPr/>
        </p:nvSpPr>
        <p:spPr>
          <a:xfrm>
            <a:off x="6629400" y="2640508"/>
            <a:ext cx="4880610" cy="253916"/>
          </a:xfrm>
          <a:prstGeom prst="rect">
            <a:avLst/>
          </a:prstGeom>
          <a:noFill/>
        </p:spPr>
        <p:txBody>
          <a:bodyPr wrap="square" lIns="0" tIns="0" rIns="0" bIns="0" anchor="t">
            <a:spAutoFit/>
          </a:bodyPr>
          <a:lstStyle/>
          <a:p>
            <a:pPr algn="l"/>
            <a:r>
              <a:rPr sz="1650" b="0" i="0" u="none" dirty="0">
                <a:solidFill>
                  <a:srgbClr val="0B252E"/>
                </a:solidFill>
                <a:latin typeface="Montserrat SemiBold"/>
              </a:rPr>
              <a:t>Future </a:t>
            </a:r>
            <a:r>
              <a:rPr lang="en-US" sz="1650" b="0" i="0" u="none" dirty="0">
                <a:solidFill>
                  <a:srgbClr val="0B252E"/>
                </a:solidFill>
                <a:latin typeface="Montserrat SemiBold"/>
              </a:rPr>
              <a:t>Work</a:t>
            </a:r>
            <a:endParaRPr sz="1650" b="0" i="0" u="none" dirty="0">
              <a:solidFill>
                <a:srgbClr val="0B252E"/>
              </a:solidFill>
              <a:latin typeface="Montserrat SemiBold"/>
            </a:endParaRPr>
          </a:p>
        </p:txBody>
      </p:sp>
      <p:sp>
        <p:nvSpPr>
          <p:cNvPr id="10" name="Rectangle 9"/>
          <p:cNvSpPr/>
          <p:nvPr/>
        </p:nvSpPr>
        <p:spPr>
          <a:xfrm>
            <a:off x="6629400" y="3040558"/>
            <a:ext cx="46482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3250108"/>
            <a:ext cx="4648200" cy="467051"/>
          </a:xfrm>
          <a:prstGeom prst="rect">
            <a:avLst/>
          </a:prstGeom>
          <a:noFill/>
        </p:spPr>
        <p:txBody>
          <a:bodyPr wrap="square" lIns="0" tIns="0" rIns="0" bIns="0" anchor="t">
            <a:spAutoFit/>
          </a:bodyPr>
          <a:lstStyle/>
          <a:p>
            <a:pPr algn="l">
              <a:lnSpc>
                <a:spcPts val="1920"/>
              </a:lnSpc>
            </a:pPr>
            <a:r>
              <a:rPr sz="1200" b="1" i="0" u="none" dirty="0">
                <a:latin typeface="Inter"/>
              </a:rPr>
              <a:t>Multi-Year Training Cycles:</a:t>
            </a:r>
            <a:r>
              <a:rPr sz="1200" b="0" i="0" u="none" dirty="0">
                <a:latin typeface="Inter"/>
              </a:rPr>
              <a:t> Pool successive years of historical CDC data to track temporal behavior trends and solidify baseline predictions.</a:t>
            </a:r>
          </a:p>
        </p:txBody>
      </p:sp>
      <p:sp>
        <p:nvSpPr>
          <p:cNvPr id="12" name="TextBox 11"/>
          <p:cNvSpPr txBox="1"/>
          <p:nvPr/>
        </p:nvSpPr>
        <p:spPr>
          <a:xfrm>
            <a:off x="6629400" y="4124325"/>
            <a:ext cx="4648200" cy="731341"/>
          </a:xfrm>
          <a:prstGeom prst="rect">
            <a:avLst/>
          </a:prstGeom>
          <a:noFill/>
        </p:spPr>
        <p:txBody>
          <a:bodyPr wrap="square" lIns="0" tIns="0" rIns="0" bIns="0" anchor="t">
            <a:spAutoFit/>
          </a:bodyPr>
          <a:lstStyle/>
          <a:p>
            <a:pPr algn="l">
              <a:lnSpc>
                <a:spcPts val="1920"/>
              </a:lnSpc>
            </a:pPr>
            <a:r>
              <a:rPr sz="1200" b="1" i="0" u="none" dirty="0">
                <a:latin typeface="Inter"/>
              </a:rPr>
              <a:t>Model Optimization:</a:t>
            </a:r>
            <a:r>
              <a:rPr sz="1200" b="0" i="0" u="none" dirty="0">
                <a:latin typeface="Inter"/>
              </a:rPr>
              <a:t> Execute aggressive feature selection analyses to isolate the absolute smallest set of questions needed to retain model stability.</a:t>
            </a:r>
          </a:p>
        </p:txBody>
      </p:sp>
      <p:sp>
        <p:nvSpPr>
          <p:cNvPr id="13" name="TextBox 12"/>
          <p:cNvSpPr txBox="1"/>
          <p:nvPr/>
        </p:nvSpPr>
        <p:spPr>
          <a:xfrm>
            <a:off x="714375" y="571500"/>
            <a:ext cx="11451431" cy="400050"/>
          </a:xfrm>
          <a:prstGeom prst="rect">
            <a:avLst/>
          </a:prstGeom>
          <a:noFill/>
        </p:spPr>
        <p:txBody>
          <a:bodyPr wrap="square" lIns="0" tIns="0" rIns="0" bIns="0" anchor="t">
            <a:spAutoFit/>
          </a:bodyPr>
          <a:lstStyle/>
          <a:p>
            <a:pPr algn="l"/>
            <a:r>
              <a:rPr sz="2550" b="1" i="0" u="none">
                <a:solidFill>
                  <a:srgbClr val="0B252E"/>
                </a:solidFill>
                <a:latin typeface="Montserrat"/>
              </a:rPr>
              <a:t>Recommendations &amp; Roadmap</a:t>
            </a:r>
          </a:p>
        </p:txBody>
      </p:sp>
      <p:sp>
        <p:nvSpPr>
          <p:cNvPr id="14" name="Rectangle 13"/>
          <p:cNvSpPr/>
          <p:nvPr/>
        </p:nvSpPr>
        <p:spPr>
          <a:xfrm>
            <a:off x="571500" y="571500"/>
            <a:ext cx="47625" cy="400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7E422D-3822-BE47-1AF7-6A27A6999B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7AC962-3546-4132-7958-D7F5BAC3CA92}"/>
              </a:ext>
            </a:extLst>
          </p:cNvPr>
          <p:cNvSpPr txBox="1"/>
          <p:nvPr/>
        </p:nvSpPr>
        <p:spPr>
          <a:xfrm>
            <a:off x="295275" y="2218432"/>
            <a:ext cx="11601450" cy="923925"/>
          </a:xfrm>
          <a:prstGeom prst="rect">
            <a:avLst/>
          </a:prstGeom>
          <a:noFill/>
        </p:spPr>
        <p:txBody>
          <a:bodyPr wrap="square" lIns="0" tIns="0" rIns="0" bIns="0" anchor="t">
            <a:spAutoFit/>
          </a:bodyPr>
          <a:lstStyle/>
          <a:p>
            <a:pPr algn="ctr"/>
            <a:r>
              <a:rPr sz="6000" b="1" i="0" u="none" dirty="0">
                <a:solidFill>
                  <a:srgbClr val="0B252E"/>
                </a:solidFill>
                <a:latin typeface="Montserrat"/>
              </a:rPr>
              <a:t>Questions &amp; Discussion</a:t>
            </a:r>
          </a:p>
        </p:txBody>
      </p:sp>
    </p:spTree>
    <p:extLst>
      <p:ext uri="{BB962C8B-B14F-4D97-AF65-F5344CB8AC3E}">
        <p14:creationId xmlns:p14="http://schemas.microsoft.com/office/powerpoint/2010/main" val="365590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1432</TotalTime>
  <Words>1625</Words>
  <Application>Microsoft Office PowerPoint</Application>
  <PresentationFormat>Widescreen</PresentationFormat>
  <Paragraphs>218</Paragraphs>
  <Slides>17</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Calibri</vt:lpstr>
      <vt:lpstr>Inter</vt:lpstr>
      <vt:lpstr>Inter SemiBold</vt:lpstr>
      <vt:lpstr>Montserrat</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dc:creator>
  <cp:keywords/>
  <dc:description>generated using python-pptx</dc:description>
  <cp:lastModifiedBy>Abhimanyu Kumbara</cp:lastModifiedBy>
  <cp:revision>10</cp:revision>
  <dcterms:created xsi:type="dcterms:W3CDTF">2013-01-27T09:14:16Z</dcterms:created>
  <dcterms:modified xsi:type="dcterms:W3CDTF">2026-07-21T14:48:02Z</dcterms:modified>
  <cp:category/>
</cp:coreProperties>
</file>